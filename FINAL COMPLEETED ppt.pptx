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7" r:id="rId2"/>
    <p:sldId id="259" r:id="rId3"/>
    <p:sldId id="348" r:id="rId4"/>
    <p:sldId id="346" r:id="rId5"/>
    <p:sldId id="347" r:id="rId6"/>
    <p:sldId id="274" r:id="rId7"/>
    <p:sldId id="271" r:id="rId8"/>
    <p:sldId id="261" r:id="rId9"/>
    <p:sldId id="262" r:id="rId10"/>
    <p:sldId id="263" r:id="rId11"/>
    <p:sldId id="349" r:id="rId12"/>
    <p:sldId id="323" r:id="rId13"/>
    <p:sldId id="338" r:id="rId14"/>
    <p:sldId id="327" r:id="rId15"/>
    <p:sldId id="325" r:id="rId16"/>
    <p:sldId id="326" r:id="rId17"/>
    <p:sldId id="340" r:id="rId18"/>
    <p:sldId id="331" r:id="rId19"/>
    <p:sldId id="337" r:id="rId20"/>
    <p:sldId id="266" r:id="rId21"/>
    <p:sldId id="345" r:id="rId22"/>
    <p:sldId id="344" r:id="rId23"/>
    <p:sldId id="268" r:id="rId24"/>
    <p:sldId id="27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996"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1A2FB-072F-4B09-A722-B4CBBB6C067C}" type="datetimeFigureOut">
              <a:rPr lang="en-IN" smtClean="0"/>
              <a:t>23-03-2026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167E63-FBC1-4E40-A199-92ADC47F8BA1}" type="slidenum">
              <a:rPr lang="en-IN" smtClean="0"/>
              <a:t>‹#›</a:t>
            </a:fld>
            <a:endParaRPr lang="en-IN"/>
          </a:p>
        </p:txBody>
      </p:sp>
    </p:spTree>
    <p:extLst>
      <p:ext uri="{BB962C8B-B14F-4D97-AF65-F5344CB8AC3E}">
        <p14:creationId xmlns:p14="http://schemas.microsoft.com/office/powerpoint/2010/main" val="3661976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ED177-28A9-46F9-8A5D-A12239DDED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BB95F17-DCDD-4E98-8BFE-DAC12CC84E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D927187-64E4-4642-AED3-11FD266B7B1B}"/>
              </a:ext>
            </a:extLst>
          </p:cNvPr>
          <p:cNvSpPr>
            <a:spLocks noGrp="1"/>
          </p:cNvSpPr>
          <p:nvPr>
            <p:ph type="dt" sz="half" idx="10"/>
          </p:nvPr>
        </p:nvSpPr>
        <p:spPr/>
        <p:txBody>
          <a:bodyPr/>
          <a:lstStyle/>
          <a:p>
            <a:fld id="{B76C46B3-326D-4ED8-B3E3-ACBCAE86B82F}" type="datetimeFigureOut">
              <a:rPr lang="en-IN" smtClean="0"/>
              <a:pPr/>
              <a:t>23-03-2026</a:t>
            </a:fld>
            <a:endParaRPr lang="en-IN"/>
          </a:p>
        </p:txBody>
      </p:sp>
      <p:sp>
        <p:nvSpPr>
          <p:cNvPr id="5" name="Footer Placeholder 4">
            <a:extLst>
              <a:ext uri="{FF2B5EF4-FFF2-40B4-BE49-F238E27FC236}">
                <a16:creationId xmlns:a16="http://schemas.microsoft.com/office/drawing/2014/main" id="{6137AB21-FA7D-4E70-A127-8C2FB8F97E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DBE06A-2FA6-4F3F-8FCD-D935A2911518}"/>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3638855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CE4E0-C0BE-4DF1-97F1-1579C4B62C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975B81-6B07-4DDD-BBA1-4C55E632F5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6C8912-3193-4098-B23E-43D0384E4ECA}"/>
              </a:ext>
            </a:extLst>
          </p:cNvPr>
          <p:cNvSpPr>
            <a:spLocks noGrp="1"/>
          </p:cNvSpPr>
          <p:nvPr>
            <p:ph type="dt" sz="half" idx="10"/>
          </p:nvPr>
        </p:nvSpPr>
        <p:spPr/>
        <p:txBody>
          <a:bodyPr/>
          <a:lstStyle/>
          <a:p>
            <a:fld id="{B76C46B3-326D-4ED8-B3E3-ACBCAE86B82F}" type="datetimeFigureOut">
              <a:rPr lang="en-IN" smtClean="0"/>
              <a:pPr/>
              <a:t>23-03-2026</a:t>
            </a:fld>
            <a:endParaRPr lang="en-IN"/>
          </a:p>
        </p:txBody>
      </p:sp>
      <p:sp>
        <p:nvSpPr>
          <p:cNvPr id="5" name="Footer Placeholder 4">
            <a:extLst>
              <a:ext uri="{FF2B5EF4-FFF2-40B4-BE49-F238E27FC236}">
                <a16:creationId xmlns:a16="http://schemas.microsoft.com/office/drawing/2014/main" id="{55D4839D-8DC0-4CA0-B87A-1CCABBBD34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A57894-E921-4BC8-982F-95EED7CB99BA}"/>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1086532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904A6-9923-4D86-93EB-A653537B1C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F7C14DE-B5BD-4212-B493-0406769BD4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22F81E-4A13-451A-A681-5C301C6E36AB}"/>
              </a:ext>
            </a:extLst>
          </p:cNvPr>
          <p:cNvSpPr>
            <a:spLocks noGrp="1"/>
          </p:cNvSpPr>
          <p:nvPr>
            <p:ph type="dt" sz="half" idx="10"/>
          </p:nvPr>
        </p:nvSpPr>
        <p:spPr/>
        <p:txBody>
          <a:bodyPr/>
          <a:lstStyle/>
          <a:p>
            <a:fld id="{B76C46B3-326D-4ED8-B3E3-ACBCAE86B82F}" type="datetimeFigureOut">
              <a:rPr lang="en-IN" smtClean="0"/>
              <a:pPr/>
              <a:t>23-03-2026</a:t>
            </a:fld>
            <a:endParaRPr lang="en-IN"/>
          </a:p>
        </p:txBody>
      </p:sp>
      <p:sp>
        <p:nvSpPr>
          <p:cNvPr id="5" name="Footer Placeholder 4">
            <a:extLst>
              <a:ext uri="{FF2B5EF4-FFF2-40B4-BE49-F238E27FC236}">
                <a16:creationId xmlns:a16="http://schemas.microsoft.com/office/drawing/2014/main" id="{7C8917F6-55C7-4504-8AD1-CFBDFA5BD3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E4251A-66D2-4556-B153-9FB1AE2A2C7B}"/>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46966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291EA-91C3-4E81-87B6-53F1546994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18A882-05C7-457C-84FD-96D0C2C48C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0731C6A-41B1-43AC-8B1B-EFBCE87A37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AAE56F-D31A-4B53-ACFA-C0609EB3E544}"/>
              </a:ext>
            </a:extLst>
          </p:cNvPr>
          <p:cNvSpPr>
            <a:spLocks noGrp="1"/>
          </p:cNvSpPr>
          <p:nvPr>
            <p:ph type="dt" sz="half" idx="10"/>
          </p:nvPr>
        </p:nvSpPr>
        <p:spPr/>
        <p:txBody>
          <a:bodyPr/>
          <a:lstStyle/>
          <a:p>
            <a:fld id="{B76C46B3-326D-4ED8-B3E3-ACBCAE86B82F}" type="datetimeFigureOut">
              <a:rPr lang="en-IN" smtClean="0"/>
              <a:pPr/>
              <a:t>23-03-2026</a:t>
            </a:fld>
            <a:endParaRPr lang="en-IN"/>
          </a:p>
        </p:txBody>
      </p:sp>
      <p:sp>
        <p:nvSpPr>
          <p:cNvPr id="6" name="Footer Placeholder 5">
            <a:extLst>
              <a:ext uri="{FF2B5EF4-FFF2-40B4-BE49-F238E27FC236}">
                <a16:creationId xmlns:a16="http://schemas.microsoft.com/office/drawing/2014/main" id="{A84A6DFE-E1A9-4B8A-A52F-6D65876B7D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45E864-CDF5-4736-BA00-68DA7B6D7408}"/>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3278009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691D9-0CBA-4FE9-9CD8-5FA8418C488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ABFDDD-A490-4393-A054-FB532052D3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53BDD5-1B0E-4EA3-9925-C01F574027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0FBBCFB-C4F7-41DF-AF2E-B338F5B4EE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CFCFDB-D41E-40A2-985D-F4999E5A69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7E0438-4F66-43D1-92DC-6C459846A9DC}"/>
              </a:ext>
            </a:extLst>
          </p:cNvPr>
          <p:cNvSpPr>
            <a:spLocks noGrp="1"/>
          </p:cNvSpPr>
          <p:nvPr>
            <p:ph type="dt" sz="half" idx="10"/>
          </p:nvPr>
        </p:nvSpPr>
        <p:spPr/>
        <p:txBody>
          <a:bodyPr/>
          <a:lstStyle/>
          <a:p>
            <a:fld id="{B76C46B3-326D-4ED8-B3E3-ACBCAE86B82F}" type="datetimeFigureOut">
              <a:rPr lang="en-IN" smtClean="0"/>
              <a:pPr/>
              <a:t>23-03-2026</a:t>
            </a:fld>
            <a:endParaRPr lang="en-IN"/>
          </a:p>
        </p:txBody>
      </p:sp>
      <p:sp>
        <p:nvSpPr>
          <p:cNvPr id="8" name="Footer Placeholder 7">
            <a:extLst>
              <a:ext uri="{FF2B5EF4-FFF2-40B4-BE49-F238E27FC236}">
                <a16:creationId xmlns:a16="http://schemas.microsoft.com/office/drawing/2014/main" id="{3D66FD84-7DBF-497F-A2CC-384EAD90FAF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19DBF75-2A3C-45DF-B5EA-77A53B19186F}"/>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2153836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E66C3-8D4B-4025-BD24-6F4C1D6D4D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645612-BC2E-4A31-ADF0-BD5AA6D7BC50}"/>
              </a:ext>
            </a:extLst>
          </p:cNvPr>
          <p:cNvSpPr>
            <a:spLocks noGrp="1"/>
          </p:cNvSpPr>
          <p:nvPr>
            <p:ph type="dt" sz="half" idx="10"/>
          </p:nvPr>
        </p:nvSpPr>
        <p:spPr/>
        <p:txBody>
          <a:bodyPr/>
          <a:lstStyle/>
          <a:p>
            <a:fld id="{B76C46B3-326D-4ED8-B3E3-ACBCAE86B82F}" type="datetimeFigureOut">
              <a:rPr lang="en-IN" smtClean="0"/>
              <a:pPr/>
              <a:t>23-03-2026</a:t>
            </a:fld>
            <a:endParaRPr lang="en-IN"/>
          </a:p>
        </p:txBody>
      </p:sp>
      <p:sp>
        <p:nvSpPr>
          <p:cNvPr id="4" name="Footer Placeholder 3">
            <a:extLst>
              <a:ext uri="{FF2B5EF4-FFF2-40B4-BE49-F238E27FC236}">
                <a16:creationId xmlns:a16="http://schemas.microsoft.com/office/drawing/2014/main" id="{7A852715-5123-4D4A-A5C3-F4A50C5E049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5932091-FB7B-4632-B570-55FD723C24A4}"/>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1043479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C195C7-BA38-4D17-AE95-C9909657579A}"/>
              </a:ext>
            </a:extLst>
          </p:cNvPr>
          <p:cNvSpPr>
            <a:spLocks noGrp="1"/>
          </p:cNvSpPr>
          <p:nvPr>
            <p:ph type="dt" sz="half" idx="10"/>
          </p:nvPr>
        </p:nvSpPr>
        <p:spPr/>
        <p:txBody>
          <a:bodyPr/>
          <a:lstStyle/>
          <a:p>
            <a:fld id="{B76C46B3-326D-4ED8-B3E3-ACBCAE86B82F}" type="datetimeFigureOut">
              <a:rPr lang="en-IN" smtClean="0"/>
              <a:pPr/>
              <a:t>23-03-2026</a:t>
            </a:fld>
            <a:endParaRPr lang="en-IN"/>
          </a:p>
        </p:txBody>
      </p:sp>
      <p:sp>
        <p:nvSpPr>
          <p:cNvPr id="3" name="Footer Placeholder 2">
            <a:extLst>
              <a:ext uri="{FF2B5EF4-FFF2-40B4-BE49-F238E27FC236}">
                <a16:creationId xmlns:a16="http://schemas.microsoft.com/office/drawing/2014/main" id="{CFBC9CFD-C637-4FDD-8F49-F2D7F7E7BE9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F29F33-91EA-418C-9B4B-1E19F5CAAFC9}"/>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7755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BAE33-F3B9-427F-9C90-FBB1DE8784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D6A8678-0648-46CB-967D-ACDFB63BCF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F530022-7C6C-4E15-9C1F-DAD905EA40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82AC81-C237-442A-BF56-9972B347D764}"/>
              </a:ext>
            </a:extLst>
          </p:cNvPr>
          <p:cNvSpPr>
            <a:spLocks noGrp="1"/>
          </p:cNvSpPr>
          <p:nvPr>
            <p:ph type="dt" sz="half" idx="10"/>
          </p:nvPr>
        </p:nvSpPr>
        <p:spPr/>
        <p:txBody>
          <a:bodyPr/>
          <a:lstStyle/>
          <a:p>
            <a:fld id="{B76C46B3-326D-4ED8-B3E3-ACBCAE86B82F}" type="datetimeFigureOut">
              <a:rPr lang="en-IN" smtClean="0"/>
              <a:pPr/>
              <a:t>23-03-2026</a:t>
            </a:fld>
            <a:endParaRPr lang="en-IN"/>
          </a:p>
        </p:txBody>
      </p:sp>
      <p:sp>
        <p:nvSpPr>
          <p:cNvPr id="6" name="Footer Placeholder 5">
            <a:extLst>
              <a:ext uri="{FF2B5EF4-FFF2-40B4-BE49-F238E27FC236}">
                <a16:creationId xmlns:a16="http://schemas.microsoft.com/office/drawing/2014/main" id="{E9DEF6FD-CD59-414D-A747-5AD055C8E7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9B872B-0864-402C-A45C-47C23A81E4C4}"/>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4190373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07B7F-80A8-4CA2-8E6C-8FCFA5DB26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CED3C3-FFC0-442B-BEE5-07026C1CBD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8356E57-C6D0-409C-9445-C25C39EC98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7D0B74-B38E-4FCE-AB15-C6805FDB5979}"/>
              </a:ext>
            </a:extLst>
          </p:cNvPr>
          <p:cNvSpPr>
            <a:spLocks noGrp="1"/>
          </p:cNvSpPr>
          <p:nvPr>
            <p:ph type="dt" sz="half" idx="10"/>
          </p:nvPr>
        </p:nvSpPr>
        <p:spPr/>
        <p:txBody>
          <a:bodyPr/>
          <a:lstStyle/>
          <a:p>
            <a:fld id="{B76C46B3-326D-4ED8-B3E3-ACBCAE86B82F}" type="datetimeFigureOut">
              <a:rPr lang="en-IN" smtClean="0"/>
              <a:pPr/>
              <a:t>23-03-2026</a:t>
            </a:fld>
            <a:endParaRPr lang="en-IN"/>
          </a:p>
        </p:txBody>
      </p:sp>
      <p:sp>
        <p:nvSpPr>
          <p:cNvPr id="6" name="Footer Placeholder 5">
            <a:extLst>
              <a:ext uri="{FF2B5EF4-FFF2-40B4-BE49-F238E27FC236}">
                <a16:creationId xmlns:a16="http://schemas.microsoft.com/office/drawing/2014/main" id="{109A2665-E0FE-4978-BAC2-1340F695A9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874001-11F4-4CCF-835F-272CA256FA13}"/>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2236541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BAB8C-612F-4017-BEE6-91568A9609D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7EA145-BFFD-4E90-AC12-2ECD3247DC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4FF472-CC87-4507-ADC0-DAFAFD23BC2F}"/>
              </a:ext>
            </a:extLst>
          </p:cNvPr>
          <p:cNvSpPr>
            <a:spLocks noGrp="1"/>
          </p:cNvSpPr>
          <p:nvPr>
            <p:ph type="dt" sz="half" idx="10"/>
          </p:nvPr>
        </p:nvSpPr>
        <p:spPr/>
        <p:txBody>
          <a:bodyPr/>
          <a:lstStyle/>
          <a:p>
            <a:fld id="{B76C46B3-326D-4ED8-B3E3-ACBCAE86B82F}" type="datetimeFigureOut">
              <a:rPr lang="en-IN" smtClean="0"/>
              <a:pPr/>
              <a:t>23-03-2026</a:t>
            </a:fld>
            <a:endParaRPr lang="en-IN"/>
          </a:p>
        </p:txBody>
      </p:sp>
      <p:sp>
        <p:nvSpPr>
          <p:cNvPr id="5" name="Footer Placeholder 4">
            <a:extLst>
              <a:ext uri="{FF2B5EF4-FFF2-40B4-BE49-F238E27FC236}">
                <a16:creationId xmlns:a16="http://schemas.microsoft.com/office/drawing/2014/main" id="{B5BAA648-7B76-4E8C-A38A-3A30CCD2DA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7F6B38-7376-4637-8CAF-2FC98D16AFF3}"/>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15613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4E2D6D-773E-45FC-BCCA-368D83CD01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AA2124-8D7F-4FFB-8ECB-AF5DB61C0C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B12CE9-DC04-4869-A1B1-8DA6DC6DEC02}"/>
              </a:ext>
            </a:extLst>
          </p:cNvPr>
          <p:cNvSpPr>
            <a:spLocks noGrp="1"/>
          </p:cNvSpPr>
          <p:nvPr>
            <p:ph type="dt" sz="half" idx="10"/>
          </p:nvPr>
        </p:nvSpPr>
        <p:spPr/>
        <p:txBody>
          <a:bodyPr/>
          <a:lstStyle/>
          <a:p>
            <a:fld id="{B76C46B3-326D-4ED8-B3E3-ACBCAE86B82F}" type="datetimeFigureOut">
              <a:rPr lang="en-IN" smtClean="0"/>
              <a:pPr/>
              <a:t>23-03-2026</a:t>
            </a:fld>
            <a:endParaRPr lang="en-IN"/>
          </a:p>
        </p:txBody>
      </p:sp>
      <p:sp>
        <p:nvSpPr>
          <p:cNvPr id="5" name="Footer Placeholder 4">
            <a:extLst>
              <a:ext uri="{FF2B5EF4-FFF2-40B4-BE49-F238E27FC236}">
                <a16:creationId xmlns:a16="http://schemas.microsoft.com/office/drawing/2014/main" id="{27AEF730-501E-4C22-8988-A358B85BBB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BC0486-CF51-42F6-AE4F-6AB94104F98F}"/>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2664142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6CBF1E-BDC7-40D2-ACBC-3D02A733A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2016BCE-AFD2-47FF-BB95-6DD0A1982F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C3850B-25F5-4A6A-9636-3AFCF20F72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6C46B3-326D-4ED8-B3E3-ACBCAE86B82F}" type="datetimeFigureOut">
              <a:rPr lang="en-IN" smtClean="0"/>
              <a:pPr/>
              <a:t>23-03-2026</a:t>
            </a:fld>
            <a:endParaRPr lang="en-IN"/>
          </a:p>
        </p:txBody>
      </p:sp>
      <p:sp>
        <p:nvSpPr>
          <p:cNvPr id="5" name="Footer Placeholder 4">
            <a:extLst>
              <a:ext uri="{FF2B5EF4-FFF2-40B4-BE49-F238E27FC236}">
                <a16:creationId xmlns:a16="http://schemas.microsoft.com/office/drawing/2014/main" id="{F5A98F12-F206-4780-99CC-C5C066F599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B1E0F09-934C-4C78-A554-075BC8F36C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1C2A0E-DBA9-4592-9A03-BB15E8B7AE27}" type="slidenum">
              <a:rPr lang="en-IN" smtClean="0"/>
              <a:pPr/>
              <a:t>‹#›</a:t>
            </a:fld>
            <a:endParaRPr lang="en-IN"/>
          </a:p>
        </p:txBody>
      </p:sp>
    </p:spTree>
    <p:extLst>
      <p:ext uri="{BB962C8B-B14F-4D97-AF65-F5344CB8AC3E}">
        <p14:creationId xmlns:p14="http://schemas.microsoft.com/office/powerpoint/2010/main" val="2179177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F5225CC-0641-4E41-9FAD-0A5A521FE8C9}"/>
              </a:ext>
            </a:extLst>
          </p:cNvPr>
          <p:cNvSpPr txBox="1"/>
          <p:nvPr/>
        </p:nvSpPr>
        <p:spPr>
          <a:xfrm>
            <a:off x="3048000" y="3227127"/>
            <a:ext cx="6096000" cy="369332"/>
          </a:xfrm>
          <a:prstGeom prst="rect">
            <a:avLst/>
          </a:prstGeom>
          <a:noFill/>
        </p:spPr>
        <p:txBody>
          <a:bodyPr wrap="square">
            <a:spAutoFit/>
          </a:bodyPr>
          <a:lstStyle/>
          <a:p>
            <a:r>
              <a:rPr lang="en-IN" b="0" dirty="0">
                <a:effectLst/>
              </a:rPr>
              <a:t> </a:t>
            </a:r>
            <a:endParaRPr lang="en-IN" dirty="0"/>
          </a:p>
        </p:txBody>
      </p:sp>
      <p:sp>
        <p:nvSpPr>
          <p:cNvPr id="13" name="Rectangle 1">
            <a:extLst>
              <a:ext uri="{FF2B5EF4-FFF2-40B4-BE49-F238E27FC236}">
                <a16:creationId xmlns:a16="http://schemas.microsoft.com/office/drawing/2014/main" id="{2C186B84-93FA-4702-8083-B3C7946A071C}"/>
              </a:ext>
            </a:extLst>
          </p:cNvPr>
          <p:cNvSpPr>
            <a:spLocks noChangeArrowheads="1"/>
          </p:cNvSpPr>
          <p:nvPr/>
        </p:nvSpPr>
        <p:spPr bwMode="auto">
          <a:xfrm>
            <a:off x="750758" y="565492"/>
            <a:ext cx="11099484" cy="1323439"/>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Emotion-Based Fan Speed Control System Using Facial Expression Recognition</a:t>
            </a:r>
          </a:p>
        </p:txBody>
      </p:sp>
      <p:sp>
        <p:nvSpPr>
          <p:cNvPr id="18" name="TextBox 17">
            <a:extLst>
              <a:ext uri="{FF2B5EF4-FFF2-40B4-BE49-F238E27FC236}">
                <a16:creationId xmlns:a16="http://schemas.microsoft.com/office/drawing/2014/main" id="{5B63B85E-04B5-4280-9CD6-3CE9FB2ED26B}"/>
              </a:ext>
            </a:extLst>
          </p:cNvPr>
          <p:cNvSpPr txBox="1"/>
          <p:nvPr/>
        </p:nvSpPr>
        <p:spPr>
          <a:xfrm>
            <a:off x="397928" y="4187014"/>
            <a:ext cx="6475838" cy="369332"/>
          </a:xfrm>
          <a:prstGeom prst="rect">
            <a:avLst/>
          </a:prstGeom>
          <a:noFill/>
          <a:ln>
            <a:solidFill>
              <a:schemeClr val="accent1"/>
            </a:solidFill>
          </a:ln>
        </p:spPr>
        <p:txBody>
          <a:bodyPr wrap="square">
            <a:spAutoFit/>
          </a:bodyPr>
          <a:lstStyle/>
          <a:p>
            <a:pPr algn="just" rtl="0" fontAlgn="base">
              <a:spcBef>
                <a:spcPts val="0"/>
              </a:spcBef>
              <a:spcAft>
                <a:spcPts val="0"/>
              </a:spcAft>
            </a:pPr>
            <a:r>
              <a:rPr lang="en-IN" sz="1800" b="1" i="0" u="sng" strike="noStrike" dirty="0">
                <a:solidFill>
                  <a:srgbClr val="000000"/>
                </a:solidFill>
                <a:effectLst/>
                <a:latin typeface="Times New Roman" panose="02020603050405020304" pitchFamily="18" charset="0"/>
                <a:cs typeface="Times New Roman" panose="02020603050405020304" pitchFamily="18" charset="0"/>
              </a:rPr>
              <a:t>TEAM MEMBERS</a:t>
            </a:r>
            <a:r>
              <a:rPr lang="en-IN" sz="1800" b="1" i="0" u="none" strike="noStrike" dirty="0">
                <a:solidFill>
                  <a:srgbClr val="000000"/>
                </a:solidFill>
                <a:effectLst/>
                <a:latin typeface="Times New Roman" panose="02020603050405020304" pitchFamily="18" charset="0"/>
                <a:cs typeface="Times New Roman" panose="02020603050405020304" pitchFamily="18" charset="0"/>
              </a:rPr>
              <a:t>:</a:t>
            </a:r>
          </a:p>
        </p:txBody>
      </p:sp>
      <p:sp>
        <p:nvSpPr>
          <p:cNvPr id="25" name="TextBox 24">
            <a:extLst>
              <a:ext uri="{FF2B5EF4-FFF2-40B4-BE49-F238E27FC236}">
                <a16:creationId xmlns:a16="http://schemas.microsoft.com/office/drawing/2014/main" id="{DBC97B9B-EEBB-4320-A310-73D457BCC385}"/>
              </a:ext>
            </a:extLst>
          </p:cNvPr>
          <p:cNvSpPr txBox="1"/>
          <p:nvPr/>
        </p:nvSpPr>
        <p:spPr>
          <a:xfrm>
            <a:off x="8288593" y="4187014"/>
            <a:ext cx="3567636" cy="646331"/>
          </a:xfrm>
          <a:prstGeom prst="rect">
            <a:avLst/>
          </a:prstGeom>
          <a:noFill/>
          <a:ln>
            <a:solidFill>
              <a:schemeClr val="accent6"/>
            </a:solidFill>
          </a:ln>
        </p:spPr>
        <p:txBody>
          <a:bodyPr wrap="square">
            <a:spAutoFit/>
          </a:bodyPr>
          <a:lstStyle/>
          <a:p>
            <a:r>
              <a:rPr lang="en-US" b="1" dirty="0">
                <a:latin typeface="Times New Roman" panose="02020603050405020304" pitchFamily="18" charset="0"/>
                <a:cs typeface="Times New Roman" panose="02020603050405020304" pitchFamily="18" charset="0"/>
              </a:rPr>
              <a:t>Under the esteemed guidance of : </a:t>
            </a:r>
          </a:p>
          <a:p>
            <a:r>
              <a:rPr lang="en-US" dirty="0">
                <a:latin typeface="Times New Roman" panose="02020603050405020304" pitchFamily="18" charset="0"/>
                <a:cs typeface="Times New Roman" panose="02020603050405020304" pitchFamily="18" charset="0"/>
              </a:rPr>
              <a:t>GUIDE NAME, DESIGNATION </a:t>
            </a:r>
          </a:p>
        </p:txBody>
      </p:sp>
    </p:spTree>
    <p:extLst>
      <p:ext uri="{BB962C8B-B14F-4D97-AF65-F5344CB8AC3E}">
        <p14:creationId xmlns:p14="http://schemas.microsoft.com/office/powerpoint/2010/main" val="469685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E7F3E-FA79-4F2C-90A5-FCA55320232E}"/>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Problem Identification</a:t>
            </a:r>
          </a:p>
        </p:txBody>
      </p:sp>
      <p:sp>
        <p:nvSpPr>
          <p:cNvPr id="3" name="Content Placeholder 2">
            <a:extLst>
              <a:ext uri="{FF2B5EF4-FFF2-40B4-BE49-F238E27FC236}">
                <a16:creationId xmlns:a16="http://schemas.microsoft.com/office/drawing/2014/main" id="{89F168E8-B62A-4A01-8E77-243C1CEB0BA1}"/>
              </a:ext>
            </a:extLst>
          </p:cNvPr>
          <p:cNvSpPr>
            <a:spLocks noGrp="1"/>
          </p:cNvSpPr>
          <p:nvPr>
            <p:ph idx="1"/>
          </p:nvPr>
        </p:nvSpPr>
        <p:spPr>
          <a:xfrm>
            <a:off x="721272" y="1662935"/>
            <a:ext cx="10749455" cy="4480583"/>
          </a:xfrm>
        </p:spPr>
        <p:txBody>
          <a:bodyPr>
            <a:normAutofit lnSpcReduction="10000"/>
          </a:bodyPr>
          <a:lstStyle/>
          <a:p>
            <a:pPr algn="just">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Traditional fan systems work only with manual control and cannot understand the user’s emotional state. </a:t>
            </a:r>
          </a:p>
          <a:p>
            <a:pPr algn="just">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This creates inconvenience because the fan speed does not adjust automatically according to the person’s mood. </a:t>
            </a:r>
          </a:p>
          <a:p>
            <a:pPr algn="just">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To overcome this, the proposed system detects facial emotion using a camera and Python code, then controls the fan speed and LED indication automatically.</a:t>
            </a:r>
            <a:endParaRPr lang="en-IN" sz="2600" dirty="0">
              <a:latin typeface="Times New Roman" panose="02020603050405020304" pitchFamily="18" charset="0"/>
              <a:cs typeface="Times New Roman" panose="02020603050405020304" pitchFamily="18" charset="0"/>
            </a:endParaRPr>
          </a:p>
          <a:p>
            <a:pPr marL="457200" lvl="1" indent="0" algn="just">
              <a:lnSpc>
                <a:spcPct val="150000"/>
              </a:lnSpc>
              <a:buNone/>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179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459BA-AC48-EA42-145D-E721F50C95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F09D6D-DB79-C8C8-32BE-A98CD4A48FDC}"/>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Motivation Behind The Project</a:t>
            </a:r>
          </a:p>
        </p:txBody>
      </p:sp>
      <p:sp>
        <p:nvSpPr>
          <p:cNvPr id="3" name="Content Placeholder 2">
            <a:extLst>
              <a:ext uri="{FF2B5EF4-FFF2-40B4-BE49-F238E27FC236}">
                <a16:creationId xmlns:a16="http://schemas.microsoft.com/office/drawing/2014/main" id="{C23E7AF1-AF0F-CFC0-1DBD-478333F7B970}"/>
              </a:ext>
            </a:extLst>
          </p:cNvPr>
          <p:cNvSpPr>
            <a:spLocks noGrp="1"/>
          </p:cNvSpPr>
          <p:nvPr>
            <p:ph idx="1"/>
          </p:nvPr>
        </p:nvSpPr>
        <p:spPr>
          <a:xfrm>
            <a:off x="721272" y="1662935"/>
            <a:ext cx="10749455" cy="4480583"/>
          </a:xfrm>
        </p:spPr>
        <p:txBody>
          <a:bodyPr>
            <a:normAutofit/>
          </a:bodyPr>
          <a:lstStyle/>
          <a:p>
            <a:pPr lvl="1" algn="just">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The motivation behind this project is to make everyday appliances smarter and more user-friendly by connecting human emotions with automatic control systems. </a:t>
            </a:r>
          </a:p>
          <a:p>
            <a:pPr lvl="1" algn="just">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By detecting facial emotions and adjusting fan speed accordingly, the system improves comfort, reduces manual effort, and introduces an intelligent way of human-machine interaction..</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0568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4D736-A01D-4BB7-3DFF-09A932C6E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897C6-E029-9A5D-CBD5-7ABDE9AAA64E}"/>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Objectives</a:t>
            </a:r>
          </a:p>
        </p:txBody>
      </p:sp>
      <p:sp>
        <p:nvSpPr>
          <p:cNvPr id="9" name="Rectangle 3">
            <a:extLst>
              <a:ext uri="{FF2B5EF4-FFF2-40B4-BE49-F238E27FC236}">
                <a16:creationId xmlns:a16="http://schemas.microsoft.com/office/drawing/2014/main" id="{66B250BD-F7D5-9816-D333-8074677B206E}"/>
              </a:ext>
            </a:extLst>
          </p:cNvPr>
          <p:cNvSpPr>
            <a:spLocks noGrp="1" noChangeArrowheads="1"/>
          </p:cNvSpPr>
          <p:nvPr>
            <p:ph idx="1"/>
          </p:nvPr>
        </p:nvSpPr>
        <p:spPr bwMode="auto">
          <a:xfrm>
            <a:off x="1288283" y="1635817"/>
            <a:ext cx="7560403" cy="3586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detect human facial emotions using a camera. </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process the detected emotion using Python code.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send the emotion result to Arduino for control action.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control fan speed automatically based on emotion.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indicate the detected emotion using LEDs.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display system status on the LCD.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an intelligent and user-friendly automation system. </a:t>
            </a:r>
          </a:p>
        </p:txBody>
      </p:sp>
    </p:spTree>
    <p:extLst>
      <p:ext uri="{BB962C8B-B14F-4D97-AF65-F5344CB8AC3E}">
        <p14:creationId xmlns:p14="http://schemas.microsoft.com/office/powerpoint/2010/main" val="3318449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24062-F682-43B0-2E96-3DF505D7A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17E95-3685-43DD-F942-2A99977C7C28}"/>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DB52A504-78F6-B09D-F452-95DEBE317533}"/>
              </a:ext>
            </a:extLst>
          </p:cNvPr>
          <p:cNvSpPr>
            <a:spLocks noGrp="1"/>
          </p:cNvSpPr>
          <p:nvPr>
            <p:ph idx="1"/>
          </p:nvPr>
        </p:nvSpPr>
        <p:spPr>
          <a:xfrm>
            <a:off x="838199" y="1410687"/>
            <a:ext cx="10702159" cy="5082188"/>
          </a:xfrm>
        </p:spPr>
        <p:txBody>
          <a:bodyPr>
            <a:normAutofit fontScale="92500"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Automation is making modern systems more intelligent and responsive to human needs. </a:t>
            </a:r>
          </a:p>
          <a:p>
            <a:pPr algn="just">
              <a:lnSpc>
                <a:spcPct val="150000"/>
              </a:lnSpc>
            </a:pPr>
            <a:r>
              <a:rPr lang="en-US" dirty="0">
                <a:latin typeface="Times New Roman" panose="02020603050405020304" pitchFamily="18" charset="0"/>
                <a:cs typeface="Times New Roman" panose="02020603050405020304" pitchFamily="18" charset="0"/>
              </a:rPr>
              <a:t>This project presents an emotion-based fan speed control system that uses facial expression recognition to operate a fan automatically. </a:t>
            </a:r>
          </a:p>
          <a:p>
            <a:pPr algn="just">
              <a:lnSpc>
                <a:spcPct val="150000"/>
              </a:lnSpc>
            </a:pPr>
            <a:r>
              <a:rPr lang="en-US" dirty="0">
                <a:latin typeface="Times New Roman" panose="02020603050405020304" pitchFamily="18" charset="0"/>
                <a:cs typeface="Times New Roman" panose="02020603050405020304" pitchFamily="18" charset="0"/>
              </a:rPr>
              <a:t>A camera captures the user’s face, Python detects the emotion, and Arduino adjusts the fan speed with LED indication. </a:t>
            </a:r>
          </a:p>
          <a:p>
            <a:pPr algn="just">
              <a:lnSpc>
                <a:spcPct val="150000"/>
              </a:lnSpc>
            </a:pPr>
            <a:r>
              <a:rPr lang="en-US" dirty="0">
                <a:latin typeface="Times New Roman" panose="02020603050405020304" pitchFamily="18" charset="0"/>
                <a:cs typeface="Times New Roman" panose="02020603050405020304" pitchFamily="18" charset="0"/>
              </a:rPr>
              <a:t>The system creates a simple link between human emotion and appliance control, improving comfort and making the setup more interactive.</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6862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5C5BD-47E3-0CF3-01EF-7DAC8CAAF0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CC244-DF1E-5CD5-5675-DFE5C7431BF7}"/>
              </a:ext>
            </a:extLst>
          </p:cNvPr>
          <p:cNvSpPr>
            <a:spLocks noGrp="1"/>
          </p:cNvSpPr>
          <p:nvPr>
            <p:ph type="title"/>
          </p:nvPr>
        </p:nvSpPr>
        <p:spPr>
          <a:xfrm>
            <a:off x="578493" y="-74340"/>
            <a:ext cx="10515600" cy="783788"/>
          </a:xfrm>
        </p:spPr>
        <p:txBody>
          <a:bodyPr/>
          <a:lstStyle/>
          <a:p>
            <a:pPr algn="ctr"/>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4">
            <a:extLst>
              <a:ext uri="{FF2B5EF4-FFF2-40B4-BE49-F238E27FC236}">
                <a16:creationId xmlns:a16="http://schemas.microsoft.com/office/drawing/2014/main" id="{A34C80AF-C5D4-5577-882F-A5AFB566D4EC}"/>
              </a:ext>
            </a:extLst>
          </p:cNvPr>
          <p:cNvGraphicFramePr>
            <a:graphicFrameLocks noGrp="1"/>
          </p:cNvGraphicFramePr>
          <p:nvPr>
            <p:extLst>
              <p:ext uri="{D42A27DB-BD31-4B8C-83A1-F6EECF244321}">
                <p14:modId xmlns:p14="http://schemas.microsoft.com/office/powerpoint/2010/main" val="2501953375"/>
              </p:ext>
            </p:extLst>
          </p:nvPr>
        </p:nvGraphicFramePr>
        <p:xfrm>
          <a:off x="799210" y="709448"/>
          <a:ext cx="11058830" cy="5176066"/>
        </p:xfrm>
        <a:graphic>
          <a:graphicData uri="http://schemas.openxmlformats.org/drawingml/2006/table">
            <a:tbl>
              <a:tblPr firstRow="1" bandRow="1">
                <a:tableStyleId>{5C22544A-7EE6-4342-B048-85BDC9FD1C3A}</a:tableStyleId>
              </a:tblPr>
              <a:tblGrid>
                <a:gridCol w="730045">
                  <a:extLst>
                    <a:ext uri="{9D8B030D-6E8A-4147-A177-3AD203B41FA5}">
                      <a16:colId xmlns:a16="http://schemas.microsoft.com/office/drawing/2014/main" val="1904009212"/>
                    </a:ext>
                  </a:extLst>
                </a:gridCol>
                <a:gridCol w="1560786">
                  <a:extLst>
                    <a:ext uri="{9D8B030D-6E8A-4147-A177-3AD203B41FA5}">
                      <a16:colId xmlns:a16="http://schemas.microsoft.com/office/drawing/2014/main" val="2052513605"/>
                    </a:ext>
                  </a:extLst>
                </a:gridCol>
                <a:gridCol w="2096814">
                  <a:extLst>
                    <a:ext uri="{9D8B030D-6E8A-4147-A177-3AD203B41FA5}">
                      <a16:colId xmlns:a16="http://schemas.microsoft.com/office/drawing/2014/main" val="767088329"/>
                    </a:ext>
                  </a:extLst>
                </a:gridCol>
                <a:gridCol w="2869324">
                  <a:extLst>
                    <a:ext uri="{9D8B030D-6E8A-4147-A177-3AD203B41FA5}">
                      <a16:colId xmlns:a16="http://schemas.microsoft.com/office/drawing/2014/main" val="3333506862"/>
                    </a:ext>
                  </a:extLst>
                </a:gridCol>
                <a:gridCol w="3801861">
                  <a:extLst>
                    <a:ext uri="{9D8B030D-6E8A-4147-A177-3AD203B41FA5}">
                      <a16:colId xmlns:a16="http://schemas.microsoft.com/office/drawing/2014/main" val="265779493"/>
                    </a:ext>
                  </a:extLst>
                </a:gridCol>
              </a:tblGrid>
              <a:tr h="430709">
                <a:tc>
                  <a:txBody>
                    <a:bodyPr/>
                    <a:lstStyle/>
                    <a:p>
                      <a:pPr algn="ctr">
                        <a:lnSpc>
                          <a:spcPct val="100000"/>
                        </a:lnSpc>
                      </a:pPr>
                      <a:r>
                        <a:rPr lang="en-IN" sz="1800" i="0" dirty="0">
                          <a:latin typeface="Times New Roman" panose="02020603050405020304" pitchFamily="18" charset="0"/>
                          <a:cs typeface="Times New Roman" panose="02020603050405020304" pitchFamily="18" charset="0"/>
                        </a:rPr>
                        <a:t>S.no</a:t>
                      </a:r>
                    </a:p>
                  </a:txBody>
                  <a:tcPr/>
                </a:tc>
                <a:tc>
                  <a:txBody>
                    <a:bodyPr/>
                    <a:lstStyle/>
                    <a:p>
                      <a:pPr algn="ctr">
                        <a:lnSpc>
                          <a:spcPct val="100000"/>
                        </a:lnSpc>
                      </a:pPr>
                      <a:r>
                        <a:rPr lang="en-IN" sz="1800" i="0" dirty="0">
                          <a:latin typeface="Times New Roman" panose="02020603050405020304" pitchFamily="18" charset="0"/>
                          <a:cs typeface="Times New Roman" panose="02020603050405020304" pitchFamily="18" charset="0"/>
                        </a:rPr>
                        <a:t>Author</a:t>
                      </a:r>
                    </a:p>
                  </a:txBody>
                  <a:tcPr/>
                </a:tc>
                <a:tc>
                  <a:txBody>
                    <a:bodyPr/>
                    <a:lstStyle/>
                    <a:p>
                      <a:pPr algn="ctr">
                        <a:lnSpc>
                          <a:spcPct val="100000"/>
                        </a:lnSpc>
                      </a:pPr>
                      <a:r>
                        <a:rPr lang="en-IN" sz="1800" i="0" dirty="0">
                          <a:latin typeface="Times New Roman" panose="02020603050405020304" pitchFamily="18" charset="0"/>
                          <a:cs typeface="Times New Roman" panose="02020603050405020304" pitchFamily="18" charset="0"/>
                        </a:rPr>
                        <a:t>Title</a:t>
                      </a:r>
                    </a:p>
                  </a:txBody>
                  <a:tcPr/>
                </a:tc>
                <a:tc>
                  <a:txBody>
                    <a:bodyPr/>
                    <a:lstStyle/>
                    <a:p>
                      <a:pPr algn="ctr">
                        <a:lnSpc>
                          <a:spcPct val="100000"/>
                        </a:lnSpc>
                      </a:pPr>
                      <a:r>
                        <a:rPr lang="en-IN" sz="1800" i="0" dirty="0">
                          <a:latin typeface="Times New Roman" panose="02020603050405020304" pitchFamily="18" charset="0"/>
                          <a:cs typeface="Times New Roman" panose="02020603050405020304" pitchFamily="18" charset="0"/>
                        </a:rPr>
                        <a:t>Problem</a:t>
                      </a:r>
                    </a:p>
                  </a:txBody>
                  <a:tcPr/>
                </a:tc>
                <a:tc>
                  <a:txBody>
                    <a:bodyPr/>
                    <a:lstStyle/>
                    <a:p>
                      <a:pPr algn="ctr">
                        <a:lnSpc>
                          <a:spcPct val="100000"/>
                        </a:lnSpc>
                      </a:pPr>
                      <a:r>
                        <a:rPr lang="en-IN" sz="1800" i="0" dirty="0">
                          <a:latin typeface="Times New Roman" panose="02020603050405020304" pitchFamily="18" charset="0"/>
                          <a:cs typeface="Times New Roman" panose="02020603050405020304" pitchFamily="18" charset="0"/>
                        </a:rPr>
                        <a:t>Summary</a:t>
                      </a:r>
                    </a:p>
                  </a:txBody>
                  <a:tcPr/>
                </a:tc>
                <a:extLst>
                  <a:ext uri="{0D108BD9-81ED-4DB2-BD59-A6C34878D82A}">
                    <a16:rowId xmlns:a16="http://schemas.microsoft.com/office/drawing/2014/main" val="957702034"/>
                  </a:ext>
                </a:extLst>
              </a:tr>
              <a:tr h="706757">
                <a:tc>
                  <a:txBody>
                    <a:bodyPr/>
                    <a:lstStyle/>
                    <a:p>
                      <a:pPr algn="ctr">
                        <a:lnSpc>
                          <a:spcPct val="100000"/>
                        </a:lnSpc>
                      </a:pPr>
                      <a:r>
                        <a:rPr lang="en-US" sz="1800" i="0" dirty="0">
                          <a:latin typeface="Times New Roman" panose="02020603050405020304" pitchFamily="18" charset="0"/>
                          <a:cs typeface="Times New Roman" panose="02020603050405020304" pitchFamily="18" charset="0"/>
                        </a:rPr>
                        <a:t>1</a:t>
                      </a:r>
                      <a:endParaRPr lang="en-IN" sz="1800" i="0" dirty="0">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Hadjar, H., et al.</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l">
                        <a:lnSpc>
                          <a:spcPct val="100000"/>
                        </a:lnSpc>
                        <a:spcAft>
                          <a:spcPts val="1000"/>
                        </a:spcAft>
                        <a:buNone/>
                      </a:pPr>
                      <a:r>
                        <a:rPr lang="en-IN" sz="2000" i="0">
                          <a:effectLst/>
                          <a:latin typeface="Times New Roman" panose="02020603050405020304" pitchFamily="18" charset="0"/>
                          <a:ea typeface="Times New Roman" panose="02020603050405020304" pitchFamily="18" charset="0"/>
                          <a:cs typeface="Times New Roman" panose="02020603050405020304" pitchFamily="18" charset="0"/>
                        </a:rPr>
                        <a:t>TheraSense</a:t>
                      </a:r>
                      <a:endParaRPr lang="en-IN" sz="2000" i="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Difficult to detect emotion accurately in real time from video.</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Proposed a deep learning system for real-time facial emotion recognition in teleconsultation. </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40804042"/>
                  </a:ext>
                </a:extLst>
              </a:tr>
              <a:tr h="706757">
                <a:tc>
                  <a:txBody>
                    <a:bodyPr/>
                    <a:lstStyle/>
                    <a:p>
                      <a:pPr algn="ctr">
                        <a:lnSpc>
                          <a:spcPct val="100000"/>
                        </a:lnSpc>
                      </a:pPr>
                      <a:r>
                        <a:rPr lang="en-US" sz="1800" i="0" dirty="0">
                          <a:latin typeface="Times New Roman" panose="02020603050405020304" pitchFamily="18" charset="0"/>
                          <a:cs typeface="Times New Roman" panose="02020603050405020304" pitchFamily="18" charset="0"/>
                        </a:rPr>
                        <a:t>2</a:t>
                      </a:r>
                      <a:endParaRPr lang="en-IN" sz="1800" i="0" dirty="0">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Bai, M., et al.</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l">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Lightweight Emotion Analysis Solution Using </a:t>
                      </a:r>
                      <a:r>
                        <a:rPr lang="en-IN" sz="2000" i="0" dirty="0" err="1">
                          <a:effectLst/>
                          <a:latin typeface="Times New Roman" panose="02020603050405020304" pitchFamily="18" charset="0"/>
                          <a:ea typeface="Times New Roman" panose="02020603050405020304" pitchFamily="18" charset="0"/>
                          <a:cs typeface="Times New Roman" panose="02020603050405020304" pitchFamily="18" charset="0"/>
                        </a:rPr>
                        <a:t>TinyML</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Existing models are too heavy for embedded devices.</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Developed a lightweight </a:t>
                      </a:r>
                      <a:r>
                        <a:rPr lang="en-IN" sz="2000" i="0" dirty="0" err="1">
                          <a:effectLst/>
                          <a:latin typeface="Times New Roman" panose="02020603050405020304" pitchFamily="18" charset="0"/>
                          <a:ea typeface="Times New Roman" panose="02020603050405020304" pitchFamily="18" charset="0"/>
                          <a:cs typeface="Times New Roman" panose="02020603050405020304" pitchFamily="18" charset="0"/>
                        </a:rPr>
                        <a:t>TinyML</a:t>
                      </a: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 model for facial emotion recognition on portable devices. </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88281227"/>
                  </a:ext>
                </a:extLst>
              </a:tr>
              <a:tr h="706757">
                <a:tc>
                  <a:txBody>
                    <a:bodyPr/>
                    <a:lstStyle/>
                    <a:p>
                      <a:pPr algn="ctr">
                        <a:lnSpc>
                          <a:spcPct val="100000"/>
                        </a:lnSpc>
                      </a:pPr>
                      <a:r>
                        <a:rPr lang="en-US" sz="1800" i="0" dirty="0">
                          <a:latin typeface="Times New Roman" panose="02020603050405020304" pitchFamily="18" charset="0"/>
                          <a:cs typeface="Times New Roman" panose="02020603050405020304" pitchFamily="18" charset="0"/>
                        </a:rPr>
                        <a:t>3</a:t>
                      </a:r>
                      <a:endParaRPr lang="en-IN" sz="1800" i="0" dirty="0">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Sone, Y., et al.</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l">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Control Support System for Smart Homes</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Smart homes lack personalized automatic control.</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Presented an intelligent smart home control system based on user-interest analysis. </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33656645"/>
                  </a:ext>
                </a:extLst>
              </a:tr>
              <a:tr h="706757">
                <a:tc>
                  <a:txBody>
                    <a:bodyPr/>
                    <a:lstStyle/>
                    <a:p>
                      <a:pPr algn="ctr">
                        <a:lnSpc>
                          <a:spcPct val="100000"/>
                        </a:lnSpc>
                      </a:pPr>
                      <a:r>
                        <a:rPr lang="en-US" sz="1800" i="0" dirty="0">
                          <a:latin typeface="Times New Roman" panose="02020603050405020304" pitchFamily="18" charset="0"/>
                          <a:cs typeface="Times New Roman" panose="02020603050405020304" pitchFamily="18" charset="0"/>
                        </a:rPr>
                        <a:t>4</a:t>
                      </a:r>
                      <a:endParaRPr lang="en-IN" sz="1800" i="0" dirty="0">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1000"/>
                        </a:spcAft>
                        <a:buNone/>
                      </a:pPr>
                      <a:r>
                        <a:rPr lang="en-IN" sz="2000" i="0">
                          <a:effectLst/>
                          <a:latin typeface="Times New Roman" panose="02020603050405020304" pitchFamily="18" charset="0"/>
                          <a:ea typeface="Times New Roman" panose="02020603050405020304" pitchFamily="18" charset="0"/>
                          <a:cs typeface="Times New Roman" panose="02020603050405020304" pitchFamily="18" charset="0"/>
                        </a:rPr>
                        <a:t>Addow, M. A., et al.</a:t>
                      </a:r>
                      <a:endParaRPr lang="en-IN" sz="2000" i="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l">
                        <a:lnSpc>
                          <a:spcPct val="100000"/>
                        </a:lnSpc>
                        <a:spcAft>
                          <a:spcPts val="1000"/>
                        </a:spcAft>
                        <a:buNone/>
                      </a:pPr>
                      <a:r>
                        <a:rPr lang="en-IN" sz="2000" i="0">
                          <a:effectLst/>
                          <a:latin typeface="Times New Roman" panose="02020603050405020304" pitchFamily="18" charset="0"/>
                          <a:ea typeface="Times New Roman" panose="02020603050405020304" pitchFamily="18" charset="0"/>
                          <a:cs typeface="Times New Roman" panose="02020603050405020304" pitchFamily="18" charset="0"/>
                        </a:rPr>
                        <a:t>Low-Cost IoT-Based Smart Home Automation System</a:t>
                      </a:r>
                      <a:endParaRPr lang="en-IN" sz="2000" i="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Smart automation is often costly.</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Designed a low-cost IoT system for appliance automation and monitoring. </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81061743"/>
                  </a:ext>
                </a:extLst>
              </a:tr>
              <a:tr h="706757">
                <a:tc>
                  <a:txBody>
                    <a:bodyPr/>
                    <a:lstStyle/>
                    <a:p>
                      <a:pPr algn="ctr">
                        <a:lnSpc>
                          <a:spcPct val="100000"/>
                        </a:lnSpc>
                      </a:pPr>
                      <a:r>
                        <a:rPr lang="en-US" sz="1800" i="0" dirty="0">
                          <a:latin typeface="Times New Roman" panose="02020603050405020304" pitchFamily="18" charset="0"/>
                          <a:cs typeface="Times New Roman" panose="02020603050405020304" pitchFamily="18" charset="0"/>
                        </a:rPr>
                        <a:t>5</a:t>
                      </a:r>
                      <a:endParaRPr lang="en-IN" sz="1800" i="0" dirty="0">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Aleran, A., et al.</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l">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AI and IoT in Energy Preservation</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Energy wastage remains high in automated systems.</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Reviewed how AI and IoT improve energy-efficient appliance control. </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96291573"/>
                  </a:ext>
                </a:extLst>
              </a:tr>
            </a:tbl>
          </a:graphicData>
        </a:graphic>
      </p:graphicFrame>
    </p:spTree>
    <p:extLst>
      <p:ext uri="{BB962C8B-B14F-4D97-AF65-F5344CB8AC3E}">
        <p14:creationId xmlns:p14="http://schemas.microsoft.com/office/powerpoint/2010/main" val="4190696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EE255-71C3-43D4-80A2-91C6821FF359}"/>
              </a:ext>
            </a:extLst>
          </p:cNvPr>
          <p:cNvSpPr>
            <a:spLocks noGrp="1"/>
          </p:cNvSpPr>
          <p:nvPr>
            <p:ph type="title"/>
          </p:nvPr>
        </p:nvSpPr>
        <p:spPr>
          <a:xfrm>
            <a:off x="1011620" y="0"/>
            <a:ext cx="10515600" cy="1325563"/>
          </a:xfrm>
        </p:spPr>
        <p:txBody>
          <a:bodyPr/>
          <a:lstStyle/>
          <a:p>
            <a:pPr algn="ctr"/>
            <a:r>
              <a:rPr lang="en-US" dirty="0">
                <a:latin typeface="Times New Roman" panose="02020603050405020304" pitchFamily="18" charset="0"/>
                <a:cs typeface="Times New Roman" panose="02020603050405020304" pitchFamily="18" charset="0"/>
              </a:rPr>
              <a:t>Existing System</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9EFBAB2-7804-1CD9-3347-9C6191A151A0}"/>
              </a:ext>
            </a:extLst>
          </p:cNvPr>
          <p:cNvSpPr txBox="1"/>
          <p:nvPr/>
        </p:nvSpPr>
        <p:spPr>
          <a:xfrm>
            <a:off x="664780" y="2767680"/>
            <a:ext cx="6093372" cy="3885936"/>
          </a:xfrm>
          <a:prstGeom prst="rect">
            <a:avLst/>
          </a:prstGeom>
          <a:noFill/>
        </p:spPr>
        <p:txBody>
          <a:bodyPr wrap="square">
            <a:spAutoFit/>
          </a:bodyPr>
          <a:lstStyle/>
          <a:p>
            <a:pPr algn="just">
              <a:lnSpc>
                <a:spcPct val="200000"/>
              </a:lnSpc>
              <a:buNone/>
            </a:pPr>
            <a:r>
              <a:rPr lang="en-US" b="1" dirty="0">
                <a:latin typeface="Times New Roman" panose="02020603050405020304" pitchFamily="18" charset="0"/>
                <a:cs typeface="Times New Roman" panose="02020603050405020304" pitchFamily="18" charset="0"/>
              </a:rPr>
              <a:t>Disadvantages of Existing System:</a:t>
            </a:r>
            <a:endParaRPr lang="en-US" dirty="0">
              <a:latin typeface="Times New Roman" panose="02020603050405020304" pitchFamily="18" charset="0"/>
              <a:cs typeface="Times New Roman" panose="02020603050405020304" pitchFamily="18" charset="0"/>
            </a:endParaRP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Requires manual operation </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No emotion recognition capability </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Cannot provide personalized control </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Less intelligent and less interactive </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May lead to unnecessary power usage </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Does not improve user comfort based on mood </a:t>
            </a:r>
          </a:p>
        </p:txBody>
      </p:sp>
      <p:sp>
        <p:nvSpPr>
          <p:cNvPr id="7" name="TextBox 6">
            <a:extLst>
              <a:ext uri="{FF2B5EF4-FFF2-40B4-BE49-F238E27FC236}">
                <a16:creationId xmlns:a16="http://schemas.microsoft.com/office/drawing/2014/main" id="{69CA9A5A-83A5-5596-B0F0-FB3449679411}"/>
              </a:ext>
            </a:extLst>
          </p:cNvPr>
          <p:cNvSpPr txBox="1"/>
          <p:nvPr/>
        </p:nvSpPr>
        <p:spPr>
          <a:xfrm>
            <a:off x="664780" y="1139256"/>
            <a:ext cx="10862440" cy="1421992"/>
          </a:xfrm>
          <a:prstGeom prst="rect">
            <a:avLst/>
          </a:prstGeom>
          <a:noFill/>
        </p:spPr>
        <p:txBody>
          <a:bodyPr wrap="square">
            <a:spAutoFit/>
          </a:bodyPr>
          <a:lstStyle/>
          <a:p>
            <a:pPr algn="just">
              <a:lnSpc>
                <a:spcPct val="150000"/>
              </a:lnSpc>
              <a:buNone/>
            </a:pPr>
            <a:r>
              <a:rPr lang="en-US" sz="2000" dirty="0">
                <a:latin typeface="Times New Roman" panose="02020603050405020304" pitchFamily="18" charset="0"/>
                <a:cs typeface="Times New Roman" panose="02020603050405020304" pitchFamily="18" charset="0"/>
              </a:rPr>
              <a:t>In the existing system, fan speed is controlled manually using switches or regulators. Some automatic systems use temperature sensors or timer-based control, but they do not consider the user’s emotional condition. These systems only respond to fixed inputs and cannot provide personalized comfort.</a:t>
            </a:r>
          </a:p>
        </p:txBody>
      </p:sp>
    </p:spTree>
    <p:extLst>
      <p:ext uri="{BB962C8B-B14F-4D97-AF65-F5344CB8AC3E}">
        <p14:creationId xmlns:p14="http://schemas.microsoft.com/office/powerpoint/2010/main" val="4266393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E27181-91F5-4661-9ED5-45349E0C5297}"/>
              </a:ext>
            </a:extLst>
          </p:cNvPr>
          <p:cNvSpPr>
            <a:spLocks noGrp="1"/>
          </p:cNvSpPr>
          <p:nvPr>
            <p:ph type="title"/>
          </p:nvPr>
        </p:nvSpPr>
        <p:spPr>
          <a:xfrm>
            <a:off x="955127" y="0"/>
            <a:ext cx="10515600" cy="1325563"/>
          </a:xfrm>
        </p:spPr>
        <p:txBody>
          <a:bodyPr/>
          <a:lstStyle/>
          <a:p>
            <a:pPr algn="ctr"/>
            <a:r>
              <a:rPr lang="en-IN" dirty="0">
                <a:latin typeface="Times New Roman" panose="02020603050405020304" pitchFamily="18" charset="0"/>
                <a:cs typeface="Times New Roman" panose="02020603050405020304" pitchFamily="18" charset="0"/>
              </a:rPr>
              <a:t>Proposed System</a:t>
            </a:r>
          </a:p>
        </p:txBody>
      </p:sp>
      <p:sp>
        <p:nvSpPr>
          <p:cNvPr id="5" name="Content Placeholder 4">
            <a:extLst>
              <a:ext uri="{FF2B5EF4-FFF2-40B4-BE49-F238E27FC236}">
                <a16:creationId xmlns:a16="http://schemas.microsoft.com/office/drawing/2014/main" id="{860D161F-A522-405A-BE37-83ECCE693688}"/>
              </a:ext>
            </a:extLst>
          </p:cNvPr>
          <p:cNvSpPr>
            <a:spLocks noGrp="1"/>
          </p:cNvSpPr>
          <p:nvPr>
            <p:ph idx="1"/>
          </p:nvPr>
        </p:nvSpPr>
        <p:spPr>
          <a:xfrm>
            <a:off x="838200" y="1224017"/>
            <a:ext cx="10749455" cy="5268858"/>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proposed system uses a camera to capture the user’s facial expression in real time. </a:t>
            </a:r>
          </a:p>
          <a:p>
            <a:pPr algn="just">
              <a:lnSpc>
                <a:spcPct val="150000"/>
              </a:lnSpc>
            </a:pPr>
            <a:r>
              <a:rPr lang="en-US" sz="2000" dirty="0">
                <a:latin typeface="Times New Roman" panose="02020603050405020304" pitchFamily="18" charset="0"/>
                <a:cs typeface="Times New Roman" panose="02020603050405020304" pitchFamily="18" charset="0"/>
              </a:rPr>
              <a:t>The captured image is processed using Python-based emotion detection to identify emotions such as anger, happy, and sad. The detected emotion is then sent to the Arduino Uno, which acts as the main control unit. </a:t>
            </a:r>
          </a:p>
          <a:p>
            <a:pPr algn="just">
              <a:lnSpc>
                <a:spcPct val="150000"/>
              </a:lnSpc>
            </a:pPr>
            <a:r>
              <a:rPr lang="en-US" sz="2000" dirty="0">
                <a:latin typeface="Times New Roman" panose="02020603050405020304" pitchFamily="18" charset="0"/>
                <a:cs typeface="Times New Roman" panose="02020603050405020304" pitchFamily="18" charset="0"/>
              </a:rPr>
              <a:t>Based on the emotion received, the Arduino controls the fan speed through a motor driver and turns ON the corresponding LED indicator. </a:t>
            </a:r>
          </a:p>
          <a:p>
            <a:pPr algn="just">
              <a:lnSpc>
                <a:spcPct val="150000"/>
              </a:lnSpc>
            </a:pPr>
            <a:r>
              <a:rPr lang="en-US" sz="2000" dirty="0">
                <a:latin typeface="Times New Roman" panose="02020603050405020304" pitchFamily="18" charset="0"/>
                <a:cs typeface="Times New Roman" panose="02020603050405020304" pitchFamily="18" charset="0"/>
              </a:rPr>
              <a:t>In this system, anger makes the fan run at high speed with red LED ON, sad makes the fan run at medium speed with yellow LED ON, and happy keeps the fan OFF with green LED ON. </a:t>
            </a:r>
          </a:p>
          <a:p>
            <a:pPr algn="just">
              <a:lnSpc>
                <a:spcPct val="150000"/>
              </a:lnSpc>
            </a:pPr>
            <a:r>
              <a:rPr lang="en-US" sz="2000" dirty="0">
                <a:latin typeface="Times New Roman" panose="02020603050405020304" pitchFamily="18" charset="0"/>
                <a:cs typeface="Times New Roman" panose="02020603050405020304" pitchFamily="18" charset="0"/>
              </a:rPr>
              <a:t>The LCD display shows the detected emotion and current system status, making the system smart, automatic, and user-friendly</a:t>
            </a:r>
            <a:r>
              <a:rPr lang="en-US" sz="2400" dirty="0"/>
              <a:t>.</a:t>
            </a:r>
          </a:p>
        </p:txBody>
      </p:sp>
    </p:spTree>
    <p:extLst>
      <p:ext uri="{BB962C8B-B14F-4D97-AF65-F5344CB8AC3E}">
        <p14:creationId xmlns:p14="http://schemas.microsoft.com/office/powerpoint/2010/main" val="1167957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E27181-91F5-4661-9ED5-45349E0C5297}"/>
              </a:ext>
            </a:extLst>
          </p:cNvPr>
          <p:cNvSpPr>
            <a:spLocks noGrp="1"/>
          </p:cNvSpPr>
          <p:nvPr>
            <p:ph type="title"/>
          </p:nvPr>
        </p:nvSpPr>
        <p:spPr>
          <a:xfrm>
            <a:off x="838200" y="-344323"/>
            <a:ext cx="10515600" cy="1325563"/>
          </a:xfrm>
        </p:spPr>
        <p:txBody>
          <a:bodyPr>
            <a:normAutofit/>
          </a:bodyPr>
          <a:lstStyle/>
          <a:p>
            <a:pPr algn="ctr"/>
            <a:r>
              <a:rPr lang="en-IN" sz="4000" dirty="0">
                <a:latin typeface="Times New Roman" panose="02020603050405020304" pitchFamily="18" charset="0"/>
                <a:cs typeface="Times New Roman" panose="02020603050405020304" pitchFamily="18" charset="0"/>
              </a:rPr>
              <a:t>Block Diagram</a:t>
            </a:r>
          </a:p>
        </p:txBody>
      </p:sp>
      <p:sp>
        <p:nvSpPr>
          <p:cNvPr id="3" name="AutoShape 2" descr="Generated image: Emotion-based fan speed control system">
            <a:extLst>
              <a:ext uri="{FF2B5EF4-FFF2-40B4-BE49-F238E27FC236}">
                <a16:creationId xmlns:a16="http://schemas.microsoft.com/office/drawing/2014/main" id="{8ADDC516-DCF4-5CE8-992C-4B059A09290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610C26D4-6A27-1A75-D66F-ABE0D53F7906}"/>
              </a:ext>
            </a:extLst>
          </p:cNvPr>
          <p:cNvPicPr>
            <a:picLocks noChangeAspect="1"/>
          </p:cNvPicPr>
          <p:nvPr/>
        </p:nvPicPr>
        <p:blipFill>
          <a:blip r:embed="rId2"/>
          <a:stretch>
            <a:fillRect/>
          </a:stretch>
        </p:blipFill>
        <p:spPr>
          <a:xfrm>
            <a:off x="1137328" y="538655"/>
            <a:ext cx="10216472" cy="6085490"/>
          </a:xfrm>
          <a:prstGeom prst="rect">
            <a:avLst/>
          </a:prstGeom>
        </p:spPr>
      </p:pic>
    </p:spTree>
    <p:extLst>
      <p:ext uri="{BB962C8B-B14F-4D97-AF65-F5344CB8AC3E}">
        <p14:creationId xmlns:p14="http://schemas.microsoft.com/office/powerpoint/2010/main" val="3122858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0CF48-EE82-4A8F-AEEC-338557C0C813}"/>
              </a:ext>
            </a:extLst>
          </p:cNvPr>
          <p:cNvSpPr>
            <a:spLocks noGrp="1"/>
          </p:cNvSpPr>
          <p:nvPr>
            <p:ph type="title"/>
          </p:nvPr>
        </p:nvSpPr>
        <p:spPr>
          <a:xfrm>
            <a:off x="838200" y="0"/>
            <a:ext cx="10515600" cy="1325563"/>
          </a:xfrm>
        </p:spPr>
        <p:txBody>
          <a:bodyPr/>
          <a:lstStyle/>
          <a:p>
            <a:pPr algn="ctr"/>
            <a:r>
              <a:rPr lang="en-IN" dirty="0">
                <a:latin typeface="Times New Roman" panose="02020603050405020304" pitchFamily="18" charset="0"/>
                <a:cs typeface="Times New Roman" panose="02020603050405020304" pitchFamily="18" charset="0"/>
              </a:rPr>
              <a:t>Operation</a:t>
            </a:r>
          </a:p>
        </p:txBody>
      </p:sp>
      <p:sp>
        <p:nvSpPr>
          <p:cNvPr id="4" name="TextBox 3">
            <a:extLst>
              <a:ext uri="{FF2B5EF4-FFF2-40B4-BE49-F238E27FC236}">
                <a16:creationId xmlns:a16="http://schemas.microsoft.com/office/drawing/2014/main" id="{7A58EBE2-E72E-011E-5481-0A5E30052495}"/>
              </a:ext>
            </a:extLst>
          </p:cNvPr>
          <p:cNvSpPr txBox="1"/>
          <p:nvPr/>
        </p:nvSpPr>
        <p:spPr>
          <a:xfrm>
            <a:off x="1074683" y="1325563"/>
            <a:ext cx="10042634" cy="5884753"/>
          </a:xfrm>
          <a:prstGeom prst="rect">
            <a:avLst/>
          </a:prstGeom>
          <a:noFill/>
        </p:spPr>
        <p:txBody>
          <a:bodyPr wrap="square">
            <a:spAutoFit/>
          </a:bodyPr>
          <a:lstStyle/>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system starts by capturing the user’s face through a camera. The facial image is processed in Python to detect the current emotion.</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Based on the detected result, a signal is sent to the Arduino Uno. The Arduino then controls the fan speed and LED indication accordingly. </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If anger is detected, the red LED turns ON and the fan runs at high speed. </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If sad is detected, the yellow LED turns ON and the fan runs at medium speed. </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If happy is detected, the green LED turns ON and the fan remains OFF. The LCD display shows the detected emotion and system status in real time.</a:t>
            </a:r>
          </a:p>
          <a:p>
            <a:pPr algn="just">
              <a:lnSpc>
                <a:spcPct val="150000"/>
              </a:lnSpc>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8900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23E8F-4700-C608-79E8-4F9E798C7F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FFF6A72-5209-7BD3-99B8-41A2E07AAC29}"/>
              </a:ext>
            </a:extLst>
          </p:cNvPr>
          <p:cNvSpPr>
            <a:spLocks noGrp="1"/>
          </p:cNvSpPr>
          <p:nvPr>
            <p:ph type="title"/>
          </p:nvPr>
        </p:nvSpPr>
        <p:spPr>
          <a:xfrm>
            <a:off x="444062" y="223236"/>
            <a:ext cx="10515600" cy="848820"/>
          </a:xfrm>
        </p:spPr>
        <p:txBody>
          <a:bodyPr/>
          <a:lstStyle/>
          <a:p>
            <a:r>
              <a:rPr lang="en-US" dirty="0"/>
              <a:t>Implementation Flow chart</a:t>
            </a:r>
            <a:endParaRPr lang="en-IN" dirty="0"/>
          </a:p>
        </p:txBody>
      </p:sp>
      <p:pic>
        <p:nvPicPr>
          <p:cNvPr id="7" name="Picture 6">
            <a:extLst>
              <a:ext uri="{FF2B5EF4-FFF2-40B4-BE49-F238E27FC236}">
                <a16:creationId xmlns:a16="http://schemas.microsoft.com/office/drawing/2014/main" id="{456E349F-8BD5-492D-E000-7087356686F6}"/>
              </a:ext>
            </a:extLst>
          </p:cNvPr>
          <p:cNvPicPr>
            <a:picLocks noChangeAspect="1"/>
          </p:cNvPicPr>
          <p:nvPr/>
        </p:nvPicPr>
        <p:blipFill>
          <a:blip r:embed="rId2"/>
          <a:stretch>
            <a:fillRect/>
          </a:stretch>
        </p:blipFill>
        <p:spPr>
          <a:xfrm>
            <a:off x="3727854" y="1072056"/>
            <a:ext cx="4736292" cy="5562708"/>
          </a:xfrm>
          <a:prstGeom prst="rect">
            <a:avLst/>
          </a:prstGeom>
        </p:spPr>
      </p:pic>
    </p:spTree>
    <p:extLst>
      <p:ext uri="{BB962C8B-B14F-4D97-AF65-F5344CB8AC3E}">
        <p14:creationId xmlns:p14="http://schemas.microsoft.com/office/powerpoint/2010/main" val="1508216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6942A-5CD1-1E49-2FF8-4CBC72A5B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DD3A21-82B3-AD4C-35C6-B5F0EBB533CB}"/>
              </a:ext>
            </a:extLst>
          </p:cNvPr>
          <p:cNvSpPr>
            <a:spLocks noGrp="1"/>
          </p:cNvSpPr>
          <p:nvPr>
            <p:ph type="title"/>
          </p:nvPr>
        </p:nvSpPr>
        <p:spPr>
          <a:xfrm>
            <a:off x="838200" y="0"/>
            <a:ext cx="10515600" cy="1325563"/>
          </a:xfrm>
        </p:spPr>
        <p:txBody>
          <a:bodyPr/>
          <a:lstStyle/>
          <a:p>
            <a:pPr algn="ctr"/>
            <a:r>
              <a:rPr lang="en-IN" dirty="0">
                <a:latin typeface="Times New Roman" panose="02020603050405020304" pitchFamily="18" charset="0"/>
                <a:cs typeface="Times New Roman" panose="02020603050405020304" pitchFamily="18" charset="0"/>
              </a:rPr>
              <a:t>Hardware Details</a:t>
            </a:r>
          </a:p>
        </p:txBody>
      </p:sp>
      <p:sp>
        <p:nvSpPr>
          <p:cNvPr id="5" name="Rectangle 2">
            <a:extLst>
              <a:ext uri="{FF2B5EF4-FFF2-40B4-BE49-F238E27FC236}">
                <a16:creationId xmlns:a16="http://schemas.microsoft.com/office/drawing/2014/main" id="{F17D3631-C7E4-84D4-ED8D-2ABFBE6DA449}"/>
              </a:ext>
            </a:extLst>
          </p:cNvPr>
          <p:cNvSpPr>
            <a:spLocks noChangeArrowheads="1"/>
          </p:cNvSpPr>
          <p:nvPr/>
        </p:nvSpPr>
        <p:spPr bwMode="auto">
          <a:xfrm>
            <a:off x="1639612" y="1511856"/>
            <a:ext cx="2943434" cy="511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Laptop Camera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Laptop Arduino Uno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Motor Driver Module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DC Fan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LCD Display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 LED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Green LED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Yellow LED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Supply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Connecting Wires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Breadboard </a:t>
            </a:r>
          </a:p>
        </p:txBody>
      </p:sp>
    </p:spTree>
    <p:extLst>
      <p:ext uri="{BB962C8B-B14F-4D97-AF65-F5344CB8AC3E}">
        <p14:creationId xmlns:p14="http://schemas.microsoft.com/office/powerpoint/2010/main" val="3055745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4588D5-57F5-6634-25A8-79B03465F8AB}"/>
              </a:ext>
            </a:extLst>
          </p:cNvPr>
          <p:cNvSpPr>
            <a:spLocks noGrp="1"/>
          </p:cNvSpPr>
          <p:nvPr>
            <p:ph type="sldNum" sz="quarter" idx="12"/>
          </p:nvPr>
        </p:nvSpPr>
        <p:spPr/>
        <p:txBody>
          <a:bodyPr/>
          <a:lstStyle/>
          <a:p>
            <a:fld id="{B6F15528-21DE-4FAA-801E-634DDDAF4B2B}" type="slidenum">
              <a:rPr lang="en-US" smtClean="0"/>
              <a:pPr/>
              <a:t>13</a:t>
            </a:fld>
            <a:endParaRPr lang="en-US" dirty="0"/>
          </a:p>
        </p:txBody>
      </p:sp>
      <p:sp>
        <p:nvSpPr>
          <p:cNvPr id="3" name="Content Placeholder 1">
            <a:extLst>
              <a:ext uri="{FF2B5EF4-FFF2-40B4-BE49-F238E27FC236}">
                <a16:creationId xmlns:a16="http://schemas.microsoft.com/office/drawing/2014/main" id="{EFCD313A-1135-BB4F-8E2F-218E81D0A4B2}"/>
              </a:ext>
            </a:extLst>
          </p:cNvPr>
          <p:cNvSpPr txBox="1">
            <a:spLocks/>
          </p:cNvSpPr>
          <p:nvPr/>
        </p:nvSpPr>
        <p:spPr>
          <a:xfrm>
            <a:off x="335360" y="1196752"/>
            <a:ext cx="11247040" cy="5159598"/>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buFont typeface="Wingdings" panose="05000000000000000000" pitchFamily="2" charset="2"/>
              <a:buChar char="Ø"/>
            </a:pPr>
            <a:r>
              <a:rPr lang="en-US" sz="2200" dirty="0">
                <a:latin typeface="Times New Roman" pitchFamily="18" charset="0"/>
                <a:cs typeface="Times New Roman" pitchFamily="18" charset="0"/>
              </a:rPr>
              <a:t>Arduino Uno serves as the main controller of the system. It receives the emotion data and controls the fan speed, LEDs, and LCD display accordingly.</a:t>
            </a:r>
          </a:p>
          <a:p>
            <a:pPr marL="0" indent="0" algn="just">
              <a:lnSpc>
                <a:spcPct val="150000"/>
              </a:lnSpc>
              <a:buNone/>
            </a:pPr>
            <a:r>
              <a:rPr lang="en-US" sz="2200" b="1" u="sng" dirty="0">
                <a:latin typeface="Times New Roman" pitchFamily="18" charset="0"/>
                <a:cs typeface="Times New Roman" pitchFamily="18" charset="0"/>
              </a:rPr>
              <a:t>Specifications</a:t>
            </a:r>
          </a:p>
          <a:p>
            <a:pPr algn="just">
              <a:lnSpc>
                <a:spcPct val="150000"/>
              </a:lnSpc>
              <a:buFont typeface="Wingdings" panose="05000000000000000000" pitchFamily="2" charset="2"/>
              <a:buChar char="Ø"/>
            </a:pPr>
            <a:r>
              <a:rPr lang="en-US" sz="2200" dirty="0">
                <a:latin typeface="Times New Roman" pitchFamily="18" charset="0"/>
                <a:cs typeface="Times New Roman" pitchFamily="18" charset="0"/>
              </a:rPr>
              <a:t>Operating Voltage: 5 Volts.</a:t>
            </a:r>
          </a:p>
          <a:p>
            <a:pPr algn="just">
              <a:lnSpc>
                <a:spcPct val="150000"/>
              </a:lnSpc>
              <a:buFont typeface="Wingdings" panose="05000000000000000000" pitchFamily="2" charset="2"/>
              <a:buChar char="Ø"/>
            </a:pPr>
            <a:r>
              <a:rPr lang="en-US" sz="2200" dirty="0">
                <a:latin typeface="Times New Roman" pitchFamily="18" charset="0"/>
                <a:cs typeface="Times New Roman" pitchFamily="18" charset="0"/>
              </a:rPr>
              <a:t>Input Voltage: 7 to 20 Volts.</a:t>
            </a:r>
          </a:p>
          <a:p>
            <a:pPr algn="just">
              <a:lnSpc>
                <a:spcPct val="150000"/>
              </a:lnSpc>
              <a:buFont typeface="Wingdings" panose="05000000000000000000" pitchFamily="2" charset="2"/>
              <a:buChar char="Ø"/>
            </a:pPr>
            <a:r>
              <a:rPr lang="en-US" sz="2200" dirty="0">
                <a:latin typeface="Times New Roman" pitchFamily="18" charset="0"/>
                <a:cs typeface="Times New Roman" pitchFamily="18" charset="0"/>
              </a:rPr>
              <a:t>Digital I/O Pins: 14 (of which 6 can provide PWM output)</a:t>
            </a:r>
          </a:p>
          <a:p>
            <a:pPr algn="just">
              <a:lnSpc>
                <a:spcPct val="150000"/>
              </a:lnSpc>
              <a:buFont typeface="Wingdings" panose="05000000000000000000" pitchFamily="2" charset="2"/>
              <a:buChar char="Ø"/>
            </a:pPr>
            <a:r>
              <a:rPr lang="en-US" sz="2200" dirty="0">
                <a:latin typeface="Times New Roman" pitchFamily="18" charset="0"/>
                <a:cs typeface="Times New Roman" pitchFamily="18" charset="0"/>
              </a:rPr>
              <a:t>Analog Input Pins: 6.</a:t>
            </a:r>
          </a:p>
          <a:p>
            <a:pPr algn="just">
              <a:lnSpc>
                <a:spcPct val="150000"/>
              </a:lnSpc>
            </a:pPr>
            <a:endParaRPr lang="en-US" sz="2000" b="1" u="sng" dirty="0">
              <a:latin typeface="Times New Roman" pitchFamily="18" charset="0"/>
              <a:cs typeface="Times New Roman" pitchFamily="18" charset="0"/>
            </a:endParaRPr>
          </a:p>
        </p:txBody>
      </p:sp>
      <p:sp>
        <p:nvSpPr>
          <p:cNvPr id="4" name="Title 2">
            <a:extLst>
              <a:ext uri="{FF2B5EF4-FFF2-40B4-BE49-F238E27FC236}">
                <a16:creationId xmlns:a16="http://schemas.microsoft.com/office/drawing/2014/main" id="{67C287C5-4CD3-8806-7B6B-01A15269EE94}"/>
              </a:ext>
            </a:extLst>
          </p:cNvPr>
          <p:cNvSpPr txBox="1">
            <a:spLocks/>
          </p:cNvSpPr>
          <p:nvPr/>
        </p:nvSpPr>
        <p:spPr>
          <a:xfrm>
            <a:off x="609600" y="274638"/>
            <a:ext cx="10972800" cy="1143000"/>
          </a:xfrm>
          <a:prstGeom prst="rect">
            <a:avLst/>
          </a:prstGeom>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dirty="0">
                <a:latin typeface="Times New Roman" pitchFamily="18" charset="0"/>
                <a:cs typeface="Times New Roman" pitchFamily="18" charset="0"/>
              </a:rPr>
              <a:t>ESP 32 Microcontroller</a:t>
            </a:r>
          </a:p>
        </p:txBody>
      </p:sp>
      <p:pic>
        <p:nvPicPr>
          <p:cNvPr id="6" name="Picture 5">
            <a:extLst>
              <a:ext uri="{FF2B5EF4-FFF2-40B4-BE49-F238E27FC236}">
                <a16:creationId xmlns:a16="http://schemas.microsoft.com/office/drawing/2014/main" id="{BC4E73B9-2F08-6749-C02C-DA48867A57B8}"/>
              </a:ext>
            </a:extLst>
          </p:cNvPr>
          <p:cNvPicPr>
            <a:picLocks noChangeAspect="1"/>
          </p:cNvPicPr>
          <p:nvPr/>
        </p:nvPicPr>
        <p:blipFill>
          <a:blip r:embed="rId2"/>
          <a:stretch>
            <a:fillRect/>
          </a:stretch>
        </p:blipFill>
        <p:spPr>
          <a:xfrm>
            <a:off x="7947134" y="2982820"/>
            <a:ext cx="3073933" cy="2614145"/>
          </a:xfrm>
          <a:prstGeom prst="rect">
            <a:avLst/>
          </a:prstGeom>
        </p:spPr>
      </p:pic>
    </p:spTree>
    <p:extLst>
      <p:ext uri="{BB962C8B-B14F-4D97-AF65-F5344CB8AC3E}">
        <p14:creationId xmlns:p14="http://schemas.microsoft.com/office/powerpoint/2010/main" val="1955977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Motor Driver (L293d)</a:t>
            </a:r>
          </a:p>
        </p:txBody>
      </p:sp>
      <p:sp>
        <p:nvSpPr>
          <p:cNvPr id="1026" name="Rectangle 2"/>
          <p:cNvSpPr>
            <a:spLocks noChangeArrowheads="1"/>
          </p:cNvSpPr>
          <p:nvPr/>
        </p:nvSpPr>
        <p:spPr bwMode="auto">
          <a:xfrm>
            <a:off x="285709" y="1317305"/>
            <a:ext cx="9144064" cy="50285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lnSpc>
                <a:spcPct val="150000"/>
              </a:lnSpc>
            </a:pPr>
            <a:r>
              <a:rPr lang="en-US" dirty="0">
                <a:latin typeface="Times New Roman" pitchFamily="18" charset="0"/>
                <a:cs typeface="Times New Roman" pitchFamily="18" charset="0"/>
              </a:rPr>
              <a:t>L293D is a basic motor driver integrated chip (IC) that enables us to drive a DC motor in either direction and also control the speed of the motor. The L293D is a 16 pin IC, with 8 pins on each side, allowing us to control the motor. It means that we can use a single L293D to run up to two DC motors. These act as an interface between the microcontroller and DC motors. They boost the low-power control signals to drive the motors safely.</a:t>
            </a:r>
          </a:p>
          <a:p>
            <a:pPr algn="just">
              <a:lnSpc>
                <a:spcPct val="150000"/>
              </a:lnSpc>
            </a:pPr>
            <a:r>
              <a:rPr lang="en-US" b="1" u="sng" dirty="0">
                <a:latin typeface="Times New Roman" pitchFamily="18" charset="0"/>
                <a:cs typeface="Times New Roman" pitchFamily="18" charset="0"/>
              </a:rPr>
              <a:t>Specifications</a:t>
            </a:r>
          </a:p>
          <a:p>
            <a:pPr algn="just">
              <a:lnSpc>
                <a:spcPct val="150000"/>
              </a:lnSpc>
            </a:pPr>
            <a:r>
              <a:rPr lang="en-US" dirty="0">
                <a:latin typeface="Times New Roman" pitchFamily="18" charset="0"/>
                <a:cs typeface="Times New Roman" pitchFamily="18" charset="0"/>
              </a:rPr>
              <a:t>Wide Supply-Voltage Range: 4.5 V to 36 V</a:t>
            </a:r>
          </a:p>
          <a:p>
            <a:pPr algn="just">
              <a:lnSpc>
                <a:spcPct val="150000"/>
              </a:lnSpc>
            </a:pPr>
            <a:r>
              <a:rPr lang="en-US" dirty="0">
                <a:latin typeface="Times New Roman" pitchFamily="18" charset="0"/>
                <a:cs typeface="Times New Roman" pitchFamily="18" charset="0"/>
              </a:rPr>
              <a:t>Separate Input-Logic Supply</a:t>
            </a:r>
          </a:p>
          <a:p>
            <a:pPr algn="just">
              <a:lnSpc>
                <a:spcPct val="150000"/>
              </a:lnSpc>
            </a:pPr>
            <a:r>
              <a:rPr lang="en-US" dirty="0">
                <a:latin typeface="Times New Roman" pitchFamily="18" charset="0"/>
                <a:cs typeface="Times New Roman" pitchFamily="18" charset="0"/>
              </a:rPr>
              <a:t>Internal ESD Protection</a:t>
            </a:r>
          </a:p>
          <a:p>
            <a:pPr algn="just">
              <a:lnSpc>
                <a:spcPct val="150000"/>
              </a:lnSpc>
            </a:pPr>
            <a:r>
              <a:rPr lang="en-US" dirty="0">
                <a:latin typeface="Times New Roman" pitchFamily="18" charset="0"/>
                <a:cs typeface="Times New Roman" pitchFamily="18" charset="0"/>
              </a:rPr>
              <a:t>High-Noise-Immunity Inputs</a:t>
            </a:r>
          </a:p>
          <a:p>
            <a:pPr algn="just">
              <a:lnSpc>
                <a:spcPct val="150000"/>
              </a:lnSpc>
            </a:pPr>
            <a:r>
              <a:rPr lang="en-US" dirty="0">
                <a:latin typeface="Times New Roman" pitchFamily="18" charset="0"/>
                <a:cs typeface="Times New Roman" pitchFamily="18" charset="0"/>
              </a:rPr>
              <a:t>Output Current 600 </a:t>
            </a:r>
            <a:r>
              <a:rPr lang="en-US" dirty="0" err="1">
                <a:latin typeface="Times New Roman" pitchFamily="18" charset="0"/>
                <a:cs typeface="Times New Roman" pitchFamily="18" charset="0"/>
              </a:rPr>
              <a:t>mA</a:t>
            </a:r>
            <a:r>
              <a:rPr lang="en-US" dirty="0">
                <a:latin typeface="Times New Roman" pitchFamily="18" charset="0"/>
                <a:cs typeface="Times New Roman" pitchFamily="18" charset="0"/>
              </a:rPr>
              <a:t> Per Channel</a:t>
            </a:r>
          </a:p>
          <a:p>
            <a:pPr marL="0" marR="0" lvl="0" indent="457200" algn="just" defTabSz="914400" rtl="0" eaLnBrk="1" fontAlgn="base" latinLnBrk="0" hangingPunct="1">
              <a:lnSpc>
                <a:spcPct val="15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8629691" y="3186115"/>
            <a:ext cx="3276600" cy="2790825"/>
          </a:xfrm>
          <a:prstGeom prst="rect">
            <a:avLst/>
          </a:prstGeom>
          <a:noFill/>
          <a:ln w="9525">
            <a:noFill/>
            <a:miter lim="800000"/>
            <a:headEnd/>
            <a:tailEnd/>
          </a:ln>
          <a:effectLst/>
        </p:spPr>
      </p:pic>
    </p:spTree>
    <p:extLst>
      <p:ext uri="{BB962C8B-B14F-4D97-AF65-F5344CB8AC3E}">
        <p14:creationId xmlns:p14="http://schemas.microsoft.com/office/powerpoint/2010/main" val="1142390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Battery Power Supply</a:t>
            </a:r>
          </a:p>
        </p:txBody>
      </p:sp>
      <p:sp>
        <p:nvSpPr>
          <p:cNvPr id="3" name="Content Placeholder 2"/>
          <p:cNvSpPr>
            <a:spLocks noGrp="1"/>
          </p:cNvSpPr>
          <p:nvPr>
            <p:ph sz="half" idx="1"/>
          </p:nvPr>
        </p:nvSpPr>
        <p:spPr>
          <a:xfrm>
            <a:off x="609600" y="1357299"/>
            <a:ext cx="11106189" cy="5193997"/>
          </a:xfrm>
        </p:spPr>
        <p:txBody>
          <a:bodyPr>
            <a:noAutofit/>
          </a:bodyPr>
          <a:lstStyle/>
          <a:p>
            <a:pPr marL="0" indent="0" algn="just">
              <a:lnSpc>
                <a:spcPct val="150000"/>
              </a:lnSpc>
              <a:buNone/>
            </a:pPr>
            <a:r>
              <a:rPr lang="en-US" sz="1900" dirty="0">
                <a:latin typeface="Times New Roman" panose="02020603050405020304" pitchFamily="18" charset="0"/>
                <a:cs typeface="Times New Roman" panose="02020603050405020304" pitchFamily="18" charset="0"/>
              </a:rPr>
              <a:t>	A power supply is an electrical device that supplies electric power to an electrical load. The main purpose of a power supply is to convert electric current from a source to the correct voltage, current, and frequency to power the load. Provides stable power to the entire robot, including sensors, motors, and the ESP32 board, ensuring continuous operation in the field.</a:t>
            </a:r>
          </a:p>
          <a:p>
            <a:pPr>
              <a:lnSpc>
                <a:spcPct val="150000"/>
              </a:lnSpc>
              <a:buNone/>
            </a:pPr>
            <a:r>
              <a:rPr lang="en-US" sz="2000" b="1" dirty="0">
                <a:latin typeface="Times New Roman" pitchFamily="18" charset="0"/>
                <a:cs typeface="Times New Roman" pitchFamily="18" charset="0"/>
              </a:rPr>
              <a:t>Specifications</a:t>
            </a:r>
          </a:p>
          <a:p>
            <a:pPr>
              <a:lnSpc>
                <a:spcPct val="100000"/>
              </a:lnSpc>
            </a:pPr>
            <a:r>
              <a:rPr lang="en-US" sz="2000" dirty="0">
                <a:latin typeface="Times New Roman" pitchFamily="18" charset="0"/>
                <a:cs typeface="Times New Roman" pitchFamily="18" charset="0"/>
              </a:rPr>
              <a:t>Power Required By ESP32.</a:t>
            </a:r>
          </a:p>
          <a:p>
            <a:pPr>
              <a:lnSpc>
                <a:spcPct val="100000"/>
              </a:lnSpc>
            </a:pPr>
            <a:r>
              <a:rPr lang="en-US" sz="2000" dirty="0">
                <a:latin typeface="Times New Roman" pitchFamily="18" charset="0"/>
                <a:cs typeface="Times New Roman" pitchFamily="18" charset="0"/>
              </a:rPr>
              <a:t>Components Required:</a:t>
            </a:r>
          </a:p>
          <a:p>
            <a:pPr>
              <a:lnSpc>
                <a:spcPct val="100000"/>
              </a:lnSpc>
            </a:pPr>
            <a:r>
              <a:rPr lang="en-US" sz="2000" dirty="0">
                <a:latin typeface="Times New Roman" pitchFamily="18" charset="0"/>
                <a:cs typeface="Times New Roman" pitchFamily="18" charset="0"/>
              </a:rPr>
              <a:t>3.7V to 5V Step-Up Boost Converter Module.</a:t>
            </a:r>
          </a:p>
          <a:p>
            <a:pPr>
              <a:lnSpc>
                <a:spcPct val="100000"/>
              </a:lnSpc>
            </a:pPr>
            <a:r>
              <a:rPr lang="en-US" sz="2000" dirty="0">
                <a:latin typeface="Times New Roman" pitchFamily="18" charset="0"/>
                <a:cs typeface="Times New Roman" pitchFamily="18" charset="0"/>
              </a:rPr>
              <a:t>Input 1-1.5V, output 5V 40-100mA.</a:t>
            </a:r>
          </a:p>
          <a:p>
            <a:pPr>
              <a:lnSpc>
                <a:spcPct val="100000"/>
              </a:lnSpc>
            </a:pPr>
            <a:r>
              <a:rPr lang="en-US" sz="2000" dirty="0">
                <a:latin typeface="Times New Roman" pitchFamily="18" charset="0"/>
                <a:cs typeface="Times New Roman" pitchFamily="18" charset="0"/>
              </a:rPr>
              <a:t>Input 1.5-2V, output 5V 100-150mA.</a:t>
            </a:r>
          </a:p>
          <a:p>
            <a:pPr>
              <a:lnSpc>
                <a:spcPct val="100000"/>
              </a:lnSpc>
            </a:pPr>
            <a:r>
              <a:rPr lang="en-US" sz="2000" dirty="0">
                <a:latin typeface="Times New Roman" pitchFamily="18" charset="0"/>
                <a:cs typeface="Times New Roman" pitchFamily="18" charset="0"/>
              </a:rPr>
              <a:t>Input 2-3V, output 5V 150-380mA</a:t>
            </a:r>
            <a:r>
              <a:rPr lang="en-US" sz="2000" dirty="0"/>
              <a:t>.</a:t>
            </a:r>
          </a:p>
          <a:p>
            <a:pPr marL="0" indent="0" algn="just">
              <a:buNone/>
            </a:pPr>
            <a:endParaRPr lang="en-US" sz="1900" dirty="0">
              <a:latin typeface="Times New Roman" panose="02020603050405020304" pitchFamily="18" charset="0"/>
              <a:cs typeface="Times New Roman" panose="02020603050405020304" pitchFamily="18" charset="0"/>
            </a:endParaRPr>
          </a:p>
          <a:p>
            <a:pPr marL="0" indent="0" algn="just">
              <a:buNone/>
            </a:pPr>
            <a:endParaRPr lang="en-US" sz="1900" dirty="0">
              <a:latin typeface="Times New Roman" panose="02020603050405020304" pitchFamily="18" charset="0"/>
              <a:cs typeface="Times New Roman" panose="02020603050405020304" pitchFamily="18" charset="0"/>
            </a:endParaRPr>
          </a:p>
          <a:p>
            <a:pPr marL="0" indent="0" algn="just">
              <a:buNone/>
            </a:pPr>
            <a:endParaRPr lang="en-US" sz="19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15</a:t>
            </a:fld>
            <a:endParaRPr lang="en-US" dirty="0"/>
          </a:p>
        </p:txBody>
      </p:sp>
      <p:pic>
        <p:nvPicPr>
          <p:cNvPr id="9" name="Picture 8">
            <a:extLst>
              <a:ext uri="{FF2B5EF4-FFF2-40B4-BE49-F238E27FC236}">
                <a16:creationId xmlns:a16="http://schemas.microsoft.com/office/drawing/2014/main" id="{FA1A513C-D4F3-2BF4-C7B6-0559FAD0BC44}"/>
              </a:ext>
            </a:extLst>
          </p:cNvPr>
          <p:cNvPicPr>
            <a:picLocks noChangeAspect="1"/>
          </p:cNvPicPr>
          <p:nvPr/>
        </p:nvPicPr>
        <p:blipFill>
          <a:blip r:embed="rId2"/>
          <a:stretch>
            <a:fillRect/>
          </a:stretch>
        </p:blipFill>
        <p:spPr>
          <a:xfrm>
            <a:off x="8425543" y="3429000"/>
            <a:ext cx="3290246" cy="207170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4053" y="1031966"/>
            <a:ext cx="8469468" cy="5611744"/>
          </a:xfrm>
        </p:spPr>
        <p:txBody>
          <a:bodyPr>
            <a:normAutofit fontScale="85000" lnSpcReduction="20000"/>
          </a:bodyPr>
          <a:lstStyle/>
          <a:p>
            <a:pPr marL="365760" indent="-255905" algn="just" eaLnBrk="1" fontAlgn="auto" hangingPunct="1">
              <a:lnSpc>
                <a:spcPct val="160000"/>
              </a:lnSpc>
              <a:spcAft>
                <a:spcPts val="0"/>
              </a:spcAft>
              <a:buFont typeface="Wingdings" pitchFamily="2" charset="2"/>
              <a:buChar char="q"/>
              <a:defRPr/>
            </a:pPr>
            <a:r>
              <a:rPr lang="en-IN" sz="2400" dirty="0">
                <a:latin typeface="Times New Roman" pitchFamily="18" charset="0"/>
                <a:cs typeface="Times New Roman" pitchFamily="18" charset="0"/>
              </a:rPr>
              <a:t>LCD stands for liquid crystal display, which is used to show the status of an application, displaying values, debugging a program, etc..</a:t>
            </a:r>
          </a:p>
          <a:p>
            <a:pPr indent="-255905" algn="just">
              <a:lnSpc>
                <a:spcPct val="160000"/>
              </a:lnSpc>
              <a:buFont typeface="Wingdings" pitchFamily="2" charset="2"/>
              <a:buChar char="q"/>
              <a:defRPr/>
            </a:pPr>
            <a:r>
              <a:rPr lang="en-US" sz="2400" dirty="0">
                <a:latin typeface="Times New Roman" pitchFamily="18" charset="0"/>
                <a:cs typeface="Times New Roman" pitchFamily="18" charset="0"/>
              </a:rPr>
              <a:t>A 16x2 LCD means it can display 16 characters per line and there are 2 such lines. In this LCD each character is displayed in 5x7 pixel matrix.</a:t>
            </a:r>
          </a:p>
          <a:p>
            <a:pPr indent="-255905" algn="just">
              <a:lnSpc>
                <a:spcPct val="160000"/>
              </a:lnSpc>
              <a:buFont typeface="Wingdings" pitchFamily="2" charset="2"/>
              <a:buChar char="q"/>
              <a:defRPr/>
            </a:pPr>
            <a:r>
              <a:rPr lang="en-US" sz="2400" dirty="0">
                <a:latin typeface="Times New Roman" pitchFamily="18" charset="0"/>
                <a:cs typeface="Times New Roman" pitchFamily="18" charset="0"/>
              </a:rPr>
              <a:t> The 16 x 2 intelligent alphanumeric dot matrix display is capable of displaying 224 different characters and symbols.</a:t>
            </a:r>
          </a:p>
          <a:p>
            <a:pPr indent="-255905" algn="just">
              <a:lnSpc>
                <a:spcPct val="160000"/>
              </a:lnSpc>
              <a:buFont typeface="Wingdings" pitchFamily="2" charset="2"/>
              <a:buChar char="q"/>
              <a:defRPr/>
            </a:pPr>
            <a:r>
              <a:rPr lang="en-US" sz="2400" dirty="0">
                <a:latin typeface="Times New Roman" pitchFamily="18" charset="0"/>
                <a:cs typeface="Times New Roman" pitchFamily="18" charset="0"/>
              </a:rPr>
              <a:t> This LCD has two registers, namely, Command and Data.</a:t>
            </a:r>
          </a:p>
          <a:p>
            <a:pPr indent="-255905" algn="just">
              <a:lnSpc>
                <a:spcPct val="160000"/>
              </a:lnSpc>
              <a:buNone/>
              <a:defRPr/>
            </a:pPr>
            <a:r>
              <a:rPr lang="en-US" sz="2400" b="1" u="sng" dirty="0">
                <a:latin typeface="Times New Roman" pitchFamily="18" charset="0"/>
                <a:cs typeface="Times New Roman" pitchFamily="18" charset="0"/>
              </a:rPr>
              <a:t>Specifications</a:t>
            </a:r>
          </a:p>
          <a:p>
            <a:pPr indent="-255905" algn="just">
              <a:lnSpc>
                <a:spcPct val="160000"/>
              </a:lnSpc>
              <a:buFont typeface="Wingdings" pitchFamily="2" charset="2"/>
              <a:buChar char="q"/>
              <a:defRPr/>
            </a:pPr>
            <a:r>
              <a:rPr lang="en-US" sz="2400" dirty="0">
                <a:latin typeface="Times New Roman" pitchFamily="18" charset="0"/>
                <a:cs typeface="Times New Roman" pitchFamily="18" charset="0"/>
              </a:rPr>
              <a:t> This 16 × 2 </a:t>
            </a:r>
            <a:r>
              <a:rPr lang="en-US" sz="2400" b="1" dirty="0">
                <a:latin typeface="Times New Roman" pitchFamily="18" charset="0"/>
                <a:cs typeface="Times New Roman" pitchFamily="18" charset="0"/>
              </a:rPr>
              <a:t>LCD</a:t>
            </a:r>
            <a:r>
              <a:rPr lang="en-US" sz="2400" dirty="0">
                <a:latin typeface="Times New Roman" pitchFamily="18" charset="0"/>
                <a:cs typeface="Times New Roman" pitchFamily="18" charset="0"/>
              </a:rPr>
              <a:t> packs 32 characters into an outline smaller than that of most two-line displays. </a:t>
            </a:r>
          </a:p>
          <a:p>
            <a:pPr indent="-255905" algn="just">
              <a:lnSpc>
                <a:spcPct val="160000"/>
              </a:lnSpc>
              <a:buFont typeface="Wingdings" pitchFamily="2" charset="2"/>
              <a:buChar char="q"/>
              <a:defRPr/>
            </a:pPr>
            <a:r>
              <a:rPr lang="en-US" sz="2400" dirty="0">
                <a:latin typeface="Times New Roman" pitchFamily="18" charset="0"/>
                <a:cs typeface="Times New Roman" pitchFamily="18" charset="0"/>
              </a:rPr>
              <a:t>An LED backlight enables optimal viewing in all lighting conditions.</a:t>
            </a:r>
          </a:p>
          <a:p>
            <a:pPr indent="-255905" algn="just">
              <a:lnSpc>
                <a:spcPct val="160000"/>
              </a:lnSpc>
              <a:buFont typeface="Wingdings" pitchFamily="2" charset="2"/>
              <a:buChar char="q"/>
              <a:defRPr/>
            </a:pPr>
            <a:endParaRPr lang="en-IN" sz="2000" dirty="0">
              <a:latin typeface="Times New Roman" pitchFamily="18" charset="0"/>
              <a:cs typeface="Times New Roman" pitchFamily="18" charset="0"/>
            </a:endParaRPr>
          </a:p>
          <a:p>
            <a:pPr marL="365760" indent="-255905" algn="just" eaLnBrk="1" fontAlgn="auto" hangingPunct="1">
              <a:spcAft>
                <a:spcPts val="0"/>
              </a:spcAft>
              <a:buFont typeface="Wingdings" pitchFamily="2" charset="2"/>
              <a:buChar char="q"/>
              <a:defRPr/>
            </a:pPr>
            <a:endParaRPr lang="en-IN" sz="1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352697" y="297635"/>
            <a:ext cx="12192000" cy="762000"/>
          </a:xfrm>
        </p:spPr>
        <p:txBody>
          <a:bodyPr>
            <a:noAutofit/>
          </a:bodyPr>
          <a:lstStyle/>
          <a:p>
            <a:pPr eaLnBrk="1" fontAlgn="auto" hangingPunct="1">
              <a:spcAft>
                <a:spcPts val="0"/>
              </a:spcAft>
              <a:defRPr/>
            </a:pPr>
            <a:r>
              <a:rPr lang="en-IN" sz="3600" dirty="0">
                <a:latin typeface="Times New Roman" panose="02020603050405020304" pitchFamily="18" charset="0"/>
                <a:cs typeface="Times New Roman" panose="02020603050405020304" pitchFamily="18" charset="0"/>
              </a:rPr>
              <a:t>   </a:t>
            </a:r>
            <a:r>
              <a:rPr lang="en-IN" sz="4000" dirty="0">
                <a:latin typeface="Times New Roman" panose="02020603050405020304" pitchFamily="18" charset="0"/>
                <a:cs typeface="Times New Roman" panose="02020603050405020304" pitchFamily="18" charset="0"/>
              </a:rPr>
              <a:t>LCD 16X2 DISPLAY</a:t>
            </a:r>
            <a:endParaRPr lang="en-IN" sz="3600" dirty="0">
              <a:latin typeface="Times New Roman" panose="02020603050405020304" pitchFamily="18" charset="0"/>
              <a:cs typeface="Times New Roman" panose="02020603050405020304" pitchFamily="18" charset="0"/>
            </a:endParaRPr>
          </a:p>
        </p:txBody>
      </p:sp>
      <p:pic>
        <p:nvPicPr>
          <p:cNvPr id="3074" name="Picture 2" descr="Arm7 Lcd 16x2 Interfacing With Lpc2148 ...">
            <a:extLst>
              <a:ext uri="{FF2B5EF4-FFF2-40B4-BE49-F238E27FC236}">
                <a16:creationId xmlns:a16="http://schemas.microsoft.com/office/drawing/2014/main" id="{8D123D46-95CC-D11E-5B79-4D0C78ED4D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4877" y="3429000"/>
            <a:ext cx="2695575" cy="16954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check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0CF48-EE82-4A8F-AEEC-338557C0C813}"/>
              </a:ext>
            </a:extLst>
          </p:cNvPr>
          <p:cNvSpPr>
            <a:spLocks noGrp="1"/>
          </p:cNvSpPr>
          <p:nvPr>
            <p:ph type="title"/>
          </p:nvPr>
        </p:nvSpPr>
        <p:spPr>
          <a:xfrm>
            <a:off x="838200" y="0"/>
            <a:ext cx="10515600" cy="1325563"/>
          </a:xfrm>
        </p:spPr>
        <p:txBody>
          <a:bodyPr/>
          <a:lstStyle/>
          <a:p>
            <a:pPr algn="ctr"/>
            <a:r>
              <a:rPr lang="en-IN" dirty="0">
                <a:latin typeface="Times New Roman" panose="02020603050405020304" pitchFamily="18" charset="0"/>
                <a:cs typeface="Times New Roman" panose="02020603050405020304" pitchFamily="18" charset="0"/>
              </a:rPr>
              <a:t>Software Details</a:t>
            </a:r>
          </a:p>
        </p:txBody>
      </p:sp>
      <p:sp>
        <p:nvSpPr>
          <p:cNvPr id="3" name="Rectangle 1">
            <a:extLst>
              <a:ext uri="{FF2B5EF4-FFF2-40B4-BE49-F238E27FC236}">
                <a16:creationId xmlns:a16="http://schemas.microsoft.com/office/drawing/2014/main" id="{39EA7054-D023-7456-05FC-E9B6FF188895}"/>
              </a:ext>
            </a:extLst>
          </p:cNvPr>
          <p:cNvSpPr>
            <a:spLocks noChangeArrowheads="1"/>
          </p:cNvSpPr>
          <p:nvPr/>
        </p:nvSpPr>
        <p:spPr bwMode="auto">
          <a:xfrm>
            <a:off x="1092926" y="1888905"/>
            <a:ext cx="5003074" cy="2120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Arduino IDE </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Embedded C </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ESP32 Wi-Fi &amp; IoT Libraries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Motor Driver Interface Library</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a:t>
            </a:r>
          </a:p>
        </p:txBody>
      </p:sp>
    </p:spTree>
    <p:extLst>
      <p:ext uri="{BB962C8B-B14F-4D97-AF65-F5344CB8AC3E}">
        <p14:creationId xmlns:p14="http://schemas.microsoft.com/office/powerpoint/2010/main" val="3728186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0B73BF-D922-4583-3EA2-B487FFDA1B99}"/>
              </a:ext>
            </a:extLst>
          </p:cNvPr>
          <p:cNvSpPr>
            <a:spLocks noGrp="1"/>
          </p:cNvSpPr>
          <p:nvPr>
            <p:ph type="sldNum" sz="quarter" idx="12"/>
          </p:nvPr>
        </p:nvSpPr>
        <p:spPr/>
        <p:txBody>
          <a:bodyPr/>
          <a:lstStyle/>
          <a:p>
            <a:fld id="{B6F15528-21DE-4FAA-801E-634DDDAF4B2B}" type="slidenum">
              <a:rPr lang="en-US" smtClean="0"/>
              <a:pPr/>
              <a:t>18</a:t>
            </a:fld>
            <a:endParaRPr lang="en-US" dirty="0"/>
          </a:p>
        </p:txBody>
      </p:sp>
      <p:sp>
        <p:nvSpPr>
          <p:cNvPr id="3" name="Title 1">
            <a:extLst>
              <a:ext uri="{FF2B5EF4-FFF2-40B4-BE49-F238E27FC236}">
                <a16:creationId xmlns:a16="http://schemas.microsoft.com/office/drawing/2014/main" id="{E42C1210-7AE9-4D08-87FE-FB9B753BDA07}"/>
              </a:ext>
            </a:extLst>
          </p:cNvPr>
          <p:cNvSpPr txBox="1">
            <a:spLocks/>
          </p:cNvSpPr>
          <p:nvPr/>
        </p:nvSpPr>
        <p:spPr>
          <a:xfrm>
            <a:off x="609600" y="274638"/>
            <a:ext cx="109728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dirty="0" err="1">
                <a:latin typeface="Times New Roman" pitchFamily="18" charset="0"/>
                <a:cs typeface="Times New Roman" pitchFamily="18" charset="0"/>
              </a:rPr>
              <a:t>Arduino</a:t>
            </a:r>
            <a:r>
              <a:rPr lang="en-US" dirty="0">
                <a:latin typeface="Times New Roman" pitchFamily="18" charset="0"/>
                <a:cs typeface="Times New Roman" pitchFamily="18" charset="0"/>
              </a:rPr>
              <a:t> IDE</a:t>
            </a:r>
          </a:p>
        </p:txBody>
      </p:sp>
      <p:sp>
        <p:nvSpPr>
          <p:cNvPr id="4" name="Content Placeholder 2">
            <a:extLst>
              <a:ext uri="{FF2B5EF4-FFF2-40B4-BE49-F238E27FC236}">
                <a16:creationId xmlns:a16="http://schemas.microsoft.com/office/drawing/2014/main" id="{3005F03F-DA17-9285-EA43-3463212281F8}"/>
              </a:ext>
            </a:extLst>
          </p:cNvPr>
          <p:cNvSpPr txBox="1">
            <a:spLocks/>
          </p:cNvSpPr>
          <p:nvPr/>
        </p:nvSpPr>
        <p:spPr>
          <a:xfrm>
            <a:off x="603741" y="1403593"/>
            <a:ext cx="5363308" cy="5266837"/>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buFont typeface="Wingdings" panose="05000000000000000000" pitchFamily="2" charset="2"/>
              <a:buChar char="Ø"/>
            </a:pPr>
            <a:r>
              <a:rPr lang="en-US" sz="2000" dirty="0">
                <a:latin typeface="Times New Roman" pitchFamily="18" charset="0"/>
                <a:cs typeface="Times New Roman" pitchFamily="18" charset="0"/>
              </a:rPr>
              <a:t>To Program the Atmega328 Microcontroller we used this IDE.</a:t>
            </a:r>
          </a:p>
          <a:p>
            <a:pPr algn="just">
              <a:lnSpc>
                <a:spcPct val="150000"/>
              </a:lnSpc>
              <a:buFont typeface="Wingdings" panose="05000000000000000000" pitchFamily="2" charset="2"/>
              <a:buChar char="Ø"/>
            </a:pPr>
            <a:r>
              <a:rPr lang="en-US" sz="2000" dirty="0">
                <a:latin typeface="Times New Roman" pitchFamily="18" charset="0"/>
                <a:cs typeface="Times New Roman" pitchFamily="18" charset="0"/>
              </a:rPr>
              <a:t> Arduino microcontrollers are pre-programmed with a boot loader that simplifies the uploading of programs to the on-chip flash memory. </a:t>
            </a:r>
          </a:p>
          <a:p>
            <a:pPr algn="just">
              <a:lnSpc>
                <a:spcPct val="150000"/>
              </a:lnSpc>
              <a:buFont typeface="Wingdings" panose="05000000000000000000" pitchFamily="2" charset="2"/>
              <a:buChar char="Ø"/>
            </a:pPr>
            <a:r>
              <a:rPr lang="en-US" sz="2000" dirty="0">
                <a:latin typeface="Times New Roman" pitchFamily="18" charset="0"/>
                <a:cs typeface="Times New Roman" pitchFamily="18" charset="0"/>
              </a:rPr>
              <a:t>The default boot loader of the Arduino UNO is the boot-loader. </a:t>
            </a:r>
          </a:p>
          <a:p>
            <a:pPr algn="just">
              <a:lnSpc>
                <a:spcPct val="150000"/>
              </a:lnSpc>
              <a:buFont typeface="Wingdings" panose="05000000000000000000" pitchFamily="2" charset="2"/>
              <a:buChar char="Ø"/>
            </a:pPr>
            <a:r>
              <a:rPr lang="en-US" sz="2000" dirty="0">
                <a:latin typeface="Times New Roman" pitchFamily="18" charset="0"/>
                <a:cs typeface="Times New Roman" pitchFamily="18" charset="0"/>
              </a:rPr>
              <a:t>Boards are loaded with program code via a serial connection to another computer. </a:t>
            </a:r>
          </a:p>
        </p:txBody>
      </p:sp>
      <p:pic>
        <p:nvPicPr>
          <p:cNvPr id="5" name="Picture 1">
            <a:extLst>
              <a:ext uri="{FF2B5EF4-FFF2-40B4-BE49-F238E27FC236}">
                <a16:creationId xmlns:a16="http://schemas.microsoft.com/office/drawing/2014/main" id="{F8D59233-B207-E66B-D1B9-C6CE0ED11EF4}"/>
              </a:ext>
            </a:extLst>
          </p:cNvPr>
          <p:cNvPicPr>
            <a:picLocks noChangeAspect="1" noChangeArrowheads="1"/>
          </p:cNvPicPr>
          <p:nvPr/>
        </p:nvPicPr>
        <p:blipFill>
          <a:blip r:embed="rId2"/>
          <a:srcRect/>
          <a:stretch>
            <a:fillRect/>
          </a:stretch>
        </p:blipFill>
        <p:spPr bwMode="auto">
          <a:xfrm>
            <a:off x="6219276" y="1196752"/>
            <a:ext cx="5735419" cy="4824536"/>
          </a:xfrm>
          <a:prstGeom prst="rect">
            <a:avLst/>
          </a:prstGeom>
          <a:noFill/>
          <a:ln w="9525">
            <a:noFill/>
            <a:miter lim="800000"/>
            <a:headEnd/>
            <a:tailEnd/>
          </a:ln>
          <a:effectLst/>
        </p:spPr>
      </p:pic>
    </p:spTree>
    <p:extLst>
      <p:ext uri="{BB962C8B-B14F-4D97-AF65-F5344CB8AC3E}">
        <p14:creationId xmlns:p14="http://schemas.microsoft.com/office/powerpoint/2010/main" val="101884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0B73BF-D922-4583-3EA2-B487FFDA1B99}"/>
              </a:ext>
            </a:extLst>
          </p:cNvPr>
          <p:cNvSpPr>
            <a:spLocks noGrp="1"/>
          </p:cNvSpPr>
          <p:nvPr>
            <p:ph type="sldNum" sz="quarter" idx="12"/>
          </p:nvPr>
        </p:nvSpPr>
        <p:spPr/>
        <p:txBody>
          <a:bodyPr/>
          <a:lstStyle/>
          <a:p>
            <a:fld id="{B6F15528-21DE-4FAA-801E-634DDDAF4B2B}" type="slidenum">
              <a:rPr lang="en-US" smtClean="0"/>
              <a:pPr/>
              <a:t>19</a:t>
            </a:fld>
            <a:endParaRPr lang="en-US" dirty="0"/>
          </a:p>
        </p:txBody>
      </p:sp>
      <p:sp>
        <p:nvSpPr>
          <p:cNvPr id="3" name="Title 1">
            <a:extLst>
              <a:ext uri="{FF2B5EF4-FFF2-40B4-BE49-F238E27FC236}">
                <a16:creationId xmlns:a16="http://schemas.microsoft.com/office/drawing/2014/main" id="{E42C1210-7AE9-4D08-87FE-FB9B753BDA07}"/>
              </a:ext>
            </a:extLst>
          </p:cNvPr>
          <p:cNvSpPr txBox="1">
            <a:spLocks/>
          </p:cNvSpPr>
          <p:nvPr/>
        </p:nvSpPr>
        <p:spPr>
          <a:xfrm>
            <a:off x="609600" y="274638"/>
            <a:ext cx="109728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latin typeface="Times New Roman" pitchFamily="18" charset="0"/>
                <a:cs typeface="Times New Roman" pitchFamily="18" charset="0"/>
              </a:rPr>
              <a:t>Advantages </a:t>
            </a:r>
          </a:p>
        </p:txBody>
      </p:sp>
      <p:sp>
        <p:nvSpPr>
          <p:cNvPr id="4" name="Rectangle 1">
            <a:extLst>
              <a:ext uri="{FF2B5EF4-FFF2-40B4-BE49-F238E27FC236}">
                <a16:creationId xmlns:a16="http://schemas.microsoft.com/office/drawing/2014/main" id="{99226B5C-5EB8-7618-FD38-874249948D8F}"/>
              </a:ext>
            </a:extLst>
          </p:cNvPr>
          <p:cNvSpPr>
            <a:spLocks noChangeArrowheads="1"/>
          </p:cNvSpPr>
          <p:nvPr/>
        </p:nvSpPr>
        <p:spPr bwMode="auto">
          <a:xfrm>
            <a:off x="1024759" y="1417638"/>
            <a:ext cx="4673074" cy="4007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fan speed control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manual effort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user comfort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and interactive system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emotion detection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to implement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Low-cost automation setup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Useful for intelligent home applications </a:t>
            </a:r>
          </a:p>
        </p:txBody>
      </p:sp>
    </p:spTree>
    <p:extLst>
      <p:ext uri="{BB962C8B-B14F-4D97-AF65-F5344CB8AC3E}">
        <p14:creationId xmlns:p14="http://schemas.microsoft.com/office/powerpoint/2010/main" val="619454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644F8-69BB-4812-94F9-B5CACF9516A7}"/>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Applications</a:t>
            </a:r>
            <a:endParaRPr lang="en-IN"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35BB293B-D5BF-2BDE-CE25-6A6546545555}"/>
              </a:ext>
            </a:extLst>
          </p:cNvPr>
          <p:cNvSpPr>
            <a:spLocks noChangeArrowheads="1"/>
          </p:cNvSpPr>
          <p:nvPr/>
        </p:nvSpPr>
        <p:spPr bwMode="auto">
          <a:xfrm>
            <a:off x="1308538" y="1965864"/>
            <a:ext cx="4968027"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homes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 comfort systems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Intelligent room automation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Human-machine interaction systems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Healthcare and patient care rooms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Stress-aware environments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office cabins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Emotion-based appliance control systems </a:t>
            </a:r>
          </a:p>
        </p:txBody>
      </p:sp>
    </p:spTree>
    <p:extLst>
      <p:ext uri="{BB962C8B-B14F-4D97-AF65-F5344CB8AC3E}">
        <p14:creationId xmlns:p14="http://schemas.microsoft.com/office/powerpoint/2010/main" val="134101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637A7-640C-CA45-D1E6-95542B0E08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6D5132-2EFA-B005-A4F3-3F6FE04661F2}"/>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DD0A94C-FF4A-DB39-6C2C-A98DF47FDD93}"/>
              </a:ext>
            </a:extLst>
          </p:cNvPr>
          <p:cNvSpPr txBox="1"/>
          <p:nvPr/>
        </p:nvSpPr>
        <p:spPr>
          <a:xfrm>
            <a:off x="838200" y="1690688"/>
            <a:ext cx="10515600" cy="2806987"/>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	The emotion-based fan speed control system provides a smart and automatic way to control fan operation using facial emotion recognition. By combining a camera, Python-based emotion detection, and Arduino control, the system adjusts fan speed based on the user’s emotional state. This improves comfort, reduces manual work, and makes the system more interactive and intelligent. The project shows how emotion recognition can be connected with home automation in a simple and effective way.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54045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57C10-7DBC-E157-5589-64973705EB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36C0EE-A39F-995A-8667-E8A126D27F96}"/>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Future scope</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7CBDE7B-6D8E-2F95-30B9-D658773B67BC}"/>
              </a:ext>
            </a:extLst>
          </p:cNvPr>
          <p:cNvSpPr txBox="1"/>
          <p:nvPr/>
        </p:nvSpPr>
        <p:spPr>
          <a:xfrm>
            <a:off x="838200" y="1690688"/>
            <a:ext cx="10515600" cy="2345322"/>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	In future, the system can be improved by detecting more emotions with higher accuracy. It can be connected to IoT platforms for remote monitoring and control. The project can also be extended to control multiple home appliances such as lights, air conditioners, and alarms based on user emotion. With advanced AI models and better sensors, the system can become more efficient, reliable, and suitable for real-world smart home applications.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4038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D24400A7-3421-4910-C2E7-32F16AEE62B5}"/>
              </a:ext>
            </a:extLst>
          </p:cNvPr>
          <p:cNvSpPr txBox="1"/>
          <p:nvPr/>
        </p:nvSpPr>
        <p:spPr>
          <a:xfrm>
            <a:off x="838200" y="1318050"/>
            <a:ext cx="10669314" cy="4653646"/>
          </a:xfrm>
          <a:prstGeom prst="rect">
            <a:avLst/>
          </a:prstGeom>
          <a:noFill/>
        </p:spPr>
        <p:txBody>
          <a:bodyPr wrap="square">
            <a:spAutoFit/>
          </a:bodyPr>
          <a:lstStyle/>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Hadjar, H., et al. “</a:t>
            </a:r>
            <a:r>
              <a:rPr lang="en-US" sz="2000" dirty="0" err="1">
                <a:latin typeface="Times New Roman" panose="02020603050405020304" pitchFamily="18" charset="0"/>
                <a:cs typeface="Times New Roman" panose="02020603050405020304" pitchFamily="18" charset="0"/>
              </a:rPr>
              <a:t>TheraSense</a:t>
            </a:r>
            <a:r>
              <a:rPr lang="en-US" sz="2000" dirty="0">
                <a:latin typeface="Times New Roman" panose="02020603050405020304" pitchFamily="18" charset="0"/>
                <a:cs typeface="Times New Roman" panose="02020603050405020304" pitchFamily="18" charset="0"/>
              </a:rPr>
              <a:t>: Deep Learning for Facial Emotion Analysis in Teleconsultation.” Electronics, vol. 14, no. 3, 2025, Article 422.</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 Bai, M., et al. “Lightweight Emotion Analysis Solution Using Tiny Machine Learning.” Computers &amp; Electrical Engineering, 2025.</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 Sone, Y., et al. “Development of a Control Support System for Smart Homes.” </a:t>
            </a:r>
            <a:r>
              <a:rPr lang="en-US" sz="2000" dirty="0" err="1">
                <a:latin typeface="Times New Roman" panose="02020603050405020304" pitchFamily="18" charset="0"/>
                <a:cs typeface="Times New Roman" panose="02020603050405020304" pitchFamily="18" charset="0"/>
              </a:rPr>
              <a:t>Robomech</a:t>
            </a:r>
            <a:r>
              <a:rPr lang="en-US" sz="2000" dirty="0">
                <a:latin typeface="Times New Roman" panose="02020603050405020304" pitchFamily="18" charset="0"/>
                <a:cs typeface="Times New Roman" panose="02020603050405020304" pitchFamily="18" charset="0"/>
              </a:rPr>
              <a:t> Journal, 2025. </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Addow, M. A., et al. “A Low-Cost IoT-Based Smart Home Automation System for Urban Environments.” Discover Internet of Things, 2025.</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 Aleran, A., et al. “Artificial Intelligence and the Internet of Things in Energy Preservation.” Computing, 2025. </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77F03-A1D9-4481-BA46-339516FA08EF}"/>
              </a:ext>
            </a:extLst>
          </p:cNvPr>
          <p:cNvSpPr>
            <a:spLocks noGrp="1"/>
          </p:cNvSpPr>
          <p:nvPr>
            <p:ph type="title"/>
          </p:nvPr>
        </p:nvSpPr>
        <p:spPr>
          <a:xfrm>
            <a:off x="838200" y="365125"/>
            <a:ext cx="10515600" cy="6082809"/>
          </a:xfrm>
        </p:spPr>
        <p:txBody>
          <a:bodyPr/>
          <a:lstStyle/>
          <a:p>
            <a:pPr algn="ctr"/>
            <a:r>
              <a:rPr lang="en-IN"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21397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762</TotalTime>
  <Words>1706</Words>
  <Application>Microsoft Office PowerPoint</Application>
  <PresentationFormat>Widescreen</PresentationFormat>
  <Paragraphs>170</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Times New Roman</vt:lpstr>
      <vt:lpstr>Wingdings</vt:lpstr>
      <vt:lpstr>Office Theme</vt:lpstr>
      <vt:lpstr>PowerPoint Presentation</vt:lpstr>
      <vt:lpstr>Problem Identification</vt:lpstr>
      <vt:lpstr>Motivation Behind The Project</vt:lpstr>
      <vt:lpstr>Objectives</vt:lpstr>
      <vt:lpstr>Introduction</vt:lpstr>
      <vt:lpstr>Literature Survey</vt:lpstr>
      <vt:lpstr>Existing System</vt:lpstr>
      <vt:lpstr>Proposed System</vt:lpstr>
      <vt:lpstr>Block Diagram</vt:lpstr>
      <vt:lpstr>Operation</vt:lpstr>
      <vt:lpstr>Implementation Flow chart</vt:lpstr>
      <vt:lpstr>Hardware Details</vt:lpstr>
      <vt:lpstr>PowerPoint Presentation</vt:lpstr>
      <vt:lpstr>Motor Driver (L293d)</vt:lpstr>
      <vt:lpstr>Battery Power Supply</vt:lpstr>
      <vt:lpstr>   LCD 16X2 DISPLAY</vt:lpstr>
      <vt:lpstr>Software Details</vt:lpstr>
      <vt:lpstr>PowerPoint Presentation</vt:lpstr>
      <vt:lpstr>PowerPoint Presentation</vt:lpstr>
      <vt:lpstr>Applications</vt:lpstr>
      <vt:lpstr>Conclusion</vt:lpstr>
      <vt:lpstr>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Review 1</dc:title>
  <dc:creator>Pavan kumar P</dc:creator>
  <cp:lastModifiedBy>surimtech703@gmail.com</cp:lastModifiedBy>
  <cp:revision>47</cp:revision>
  <dcterms:created xsi:type="dcterms:W3CDTF">2021-04-19T15:05:42Z</dcterms:created>
  <dcterms:modified xsi:type="dcterms:W3CDTF">2026-03-23T00:54:03Z</dcterms:modified>
</cp:coreProperties>
</file>