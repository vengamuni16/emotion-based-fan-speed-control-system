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352" r:id="rId2"/>
    <p:sldId id="347" r:id="rId3"/>
    <p:sldId id="259" r:id="rId4"/>
    <p:sldId id="346" r:id="rId5"/>
    <p:sldId id="274" r:id="rId6"/>
    <p:sldId id="271" r:id="rId7"/>
    <p:sldId id="261" r:id="rId8"/>
    <p:sldId id="262" r:id="rId9"/>
    <p:sldId id="263" r:id="rId10"/>
    <p:sldId id="349" r:id="rId11"/>
    <p:sldId id="323" r:id="rId12"/>
    <p:sldId id="340" r:id="rId13"/>
    <p:sldId id="351" r:id="rId14"/>
    <p:sldId id="337" r:id="rId15"/>
    <p:sldId id="266" r:id="rId16"/>
    <p:sldId id="344" r:id="rId17"/>
    <p:sldId id="345" r:id="rId18"/>
    <p:sldId id="268" r:id="rId19"/>
    <p:sldId id="2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80" d="100"/>
          <a:sy n="80" d="100"/>
        </p:scale>
        <p:origin x="48"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61A2FB-072F-4B09-A722-B4CBBB6C067C}" type="datetimeFigureOut">
              <a:rPr lang="en-IN" smtClean="0"/>
              <a:t>10-04-2026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167E63-FBC1-4E40-A199-92ADC47F8BA1}" type="slidenum">
              <a:rPr lang="en-IN" smtClean="0"/>
              <a:t>‹#›</a:t>
            </a:fld>
            <a:endParaRPr lang="en-IN"/>
          </a:p>
        </p:txBody>
      </p:sp>
    </p:spTree>
    <p:extLst>
      <p:ext uri="{BB962C8B-B14F-4D97-AF65-F5344CB8AC3E}">
        <p14:creationId xmlns:p14="http://schemas.microsoft.com/office/powerpoint/2010/main" val="3661976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ED177-28A9-46F9-8A5D-A12239DDED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BB95F17-DCDD-4E98-8BFE-DAC12CC84E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D927187-64E4-4642-AED3-11FD266B7B1B}"/>
              </a:ext>
            </a:extLst>
          </p:cNvPr>
          <p:cNvSpPr>
            <a:spLocks noGrp="1"/>
          </p:cNvSpPr>
          <p:nvPr>
            <p:ph type="dt" sz="half" idx="10"/>
          </p:nvPr>
        </p:nvSpPr>
        <p:spPr/>
        <p:txBody>
          <a:bodyPr/>
          <a:lstStyle/>
          <a:p>
            <a:fld id="{B76C46B3-326D-4ED8-B3E3-ACBCAE86B82F}" type="datetimeFigureOut">
              <a:rPr lang="en-IN" smtClean="0"/>
              <a:pPr/>
              <a:t>10-04-2026</a:t>
            </a:fld>
            <a:endParaRPr lang="en-IN"/>
          </a:p>
        </p:txBody>
      </p:sp>
      <p:sp>
        <p:nvSpPr>
          <p:cNvPr id="5" name="Footer Placeholder 4">
            <a:extLst>
              <a:ext uri="{FF2B5EF4-FFF2-40B4-BE49-F238E27FC236}">
                <a16:creationId xmlns:a16="http://schemas.microsoft.com/office/drawing/2014/main" id="{6137AB21-FA7D-4E70-A127-8C2FB8F97E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DBE06A-2FA6-4F3F-8FCD-D935A2911518}"/>
              </a:ext>
            </a:extLst>
          </p:cNvPr>
          <p:cNvSpPr>
            <a:spLocks noGrp="1"/>
          </p:cNvSpPr>
          <p:nvPr>
            <p:ph type="sldNum" sz="quarter" idx="12"/>
          </p:nvPr>
        </p:nvSpPr>
        <p:spPr/>
        <p:txBody>
          <a:bodyPr/>
          <a:lstStyle/>
          <a:p>
            <a:fld id="{FE1C2A0E-DBA9-4592-9A03-BB15E8B7AE27}" type="slidenum">
              <a:rPr lang="en-IN" smtClean="0"/>
              <a:pPr/>
              <a:t>‹#›</a:t>
            </a:fld>
            <a:endParaRPr lang="en-IN"/>
          </a:p>
        </p:txBody>
      </p:sp>
    </p:spTree>
    <p:extLst>
      <p:ext uri="{BB962C8B-B14F-4D97-AF65-F5344CB8AC3E}">
        <p14:creationId xmlns:p14="http://schemas.microsoft.com/office/powerpoint/2010/main" val="3638855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CE4E0-C0BE-4DF1-97F1-1579C4B62C9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3975B81-6B07-4DDD-BBA1-4C55E632F5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6C8912-3193-4098-B23E-43D0384E4ECA}"/>
              </a:ext>
            </a:extLst>
          </p:cNvPr>
          <p:cNvSpPr>
            <a:spLocks noGrp="1"/>
          </p:cNvSpPr>
          <p:nvPr>
            <p:ph type="dt" sz="half" idx="10"/>
          </p:nvPr>
        </p:nvSpPr>
        <p:spPr/>
        <p:txBody>
          <a:bodyPr/>
          <a:lstStyle/>
          <a:p>
            <a:fld id="{B76C46B3-326D-4ED8-B3E3-ACBCAE86B82F}" type="datetimeFigureOut">
              <a:rPr lang="en-IN" smtClean="0"/>
              <a:pPr/>
              <a:t>10-04-2026</a:t>
            </a:fld>
            <a:endParaRPr lang="en-IN"/>
          </a:p>
        </p:txBody>
      </p:sp>
      <p:sp>
        <p:nvSpPr>
          <p:cNvPr id="5" name="Footer Placeholder 4">
            <a:extLst>
              <a:ext uri="{FF2B5EF4-FFF2-40B4-BE49-F238E27FC236}">
                <a16:creationId xmlns:a16="http://schemas.microsoft.com/office/drawing/2014/main" id="{55D4839D-8DC0-4CA0-B87A-1CCABBBD341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A57894-E921-4BC8-982F-95EED7CB99BA}"/>
              </a:ext>
            </a:extLst>
          </p:cNvPr>
          <p:cNvSpPr>
            <a:spLocks noGrp="1"/>
          </p:cNvSpPr>
          <p:nvPr>
            <p:ph type="sldNum" sz="quarter" idx="12"/>
          </p:nvPr>
        </p:nvSpPr>
        <p:spPr/>
        <p:txBody>
          <a:bodyPr/>
          <a:lstStyle/>
          <a:p>
            <a:fld id="{FE1C2A0E-DBA9-4592-9A03-BB15E8B7AE27}" type="slidenum">
              <a:rPr lang="en-IN" smtClean="0"/>
              <a:pPr/>
              <a:t>‹#›</a:t>
            </a:fld>
            <a:endParaRPr lang="en-IN"/>
          </a:p>
        </p:txBody>
      </p:sp>
    </p:spTree>
    <p:extLst>
      <p:ext uri="{BB962C8B-B14F-4D97-AF65-F5344CB8AC3E}">
        <p14:creationId xmlns:p14="http://schemas.microsoft.com/office/powerpoint/2010/main" val="1086532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904A6-9923-4D86-93EB-A653537B1C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F7C14DE-B5BD-4212-B493-0406769BD4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E22F81E-4A13-451A-A681-5C301C6E36AB}"/>
              </a:ext>
            </a:extLst>
          </p:cNvPr>
          <p:cNvSpPr>
            <a:spLocks noGrp="1"/>
          </p:cNvSpPr>
          <p:nvPr>
            <p:ph type="dt" sz="half" idx="10"/>
          </p:nvPr>
        </p:nvSpPr>
        <p:spPr/>
        <p:txBody>
          <a:bodyPr/>
          <a:lstStyle/>
          <a:p>
            <a:fld id="{B76C46B3-326D-4ED8-B3E3-ACBCAE86B82F}" type="datetimeFigureOut">
              <a:rPr lang="en-IN" smtClean="0"/>
              <a:pPr/>
              <a:t>10-04-2026</a:t>
            </a:fld>
            <a:endParaRPr lang="en-IN"/>
          </a:p>
        </p:txBody>
      </p:sp>
      <p:sp>
        <p:nvSpPr>
          <p:cNvPr id="5" name="Footer Placeholder 4">
            <a:extLst>
              <a:ext uri="{FF2B5EF4-FFF2-40B4-BE49-F238E27FC236}">
                <a16:creationId xmlns:a16="http://schemas.microsoft.com/office/drawing/2014/main" id="{7C8917F6-55C7-4504-8AD1-CFBDFA5BD3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E4251A-66D2-4556-B153-9FB1AE2A2C7B}"/>
              </a:ext>
            </a:extLst>
          </p:cNvPr>
          <p:cNvSpPr>
            <a:spLocks noGrp="1"/>
          </p:cNvSpPr>
          <p:nvPr>
            <p:ph type="sldNum" sz="quarter" idx="12"/>
          </p:nvPr>
        </p:nvSpPr>
        <p:spPr/>
        <p:txBody>
          <a:bodyPr/>
          <a:lstStyle/>
          <a:p>
            <a:fld id="{FE1C2A0E-DBA9-4592-9A03-BB15E8B7AE27}" type="slidenum">
              <a:rPr lang="en-IN" smtClean="0"/>
              <a:pPr/>
              <a:t>‹#›</a:t>
            </a:fld>
            <a:endParaRPr lang="en-IN"/>
          </a:p>
        </p:txBody>
      </p:sp>
    </p:spTree>
    <p:extLst>
      <p:ext uri="{BB962C8B-B14F-4D97-AF65-F5344CB8AC3E}">
        <p14:creationId xmlns:p14="http://schemas.microsoft.com/office/powerpoint/2010/main" val="46966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291EA-91C3-4E81-87B6-53F1546994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218A882-05C7-457C-84FD-96D0C2C48CD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0731C6A-41B1-43AC-8B1B-EFBCE87A37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5AAE56F-D31A-4B53-ACFA-C0609EB3E544}"/>
              </a:ext>
            </a:extLst>
          </p:cNvPr>
          <p:cNvSpPr>
            <a:spLocks noGrp="1"/>
          </p:cNvSpPr>
          <p:nvPr>
            <p:ph type="dt" sz="half" idx="10"/>
          </p:nvPr>
        </p:nvSpPr>
        <p:spPr/>
        <p:txBody>
          <a:bodyPr/>
          <a:lstStyle/>
          <a:p>
            <a:fld id="{B76C46B3-326D-4ED8-B3E3-ACBCAE86B82F}" type="datetimeFigureOut">
              <a:rPr lang="en-IN" smtClean="0"/>
              <a:pPr/>
              <a:t>10-04-2026</a:t>
            </a:fld>
            <a:endParaRPr lang="en-IN"/>
          </a:p>
        </p:txBody>
      </p:sp>
      <p:sp>
        <p:nvSpPr>
          <p:cNvPr id="6" name="Footer Placeholder 5">
            <a:extLst>
              <a:ext uri="{FF2B5EF4-FFF2-40B4-BE49-F238E27FC236}">
                <a16:creationId xmlns:a16="http://schemas.microsoft.com/office/drawing/2014/main" id="{A84A6DFE-E1A9-4B8A-A52F-6D65876B7D1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E45E864-CDF5-4736-BA00-68DA7B6D7408}"/>
              </a:ext>
            </a:extLst>
          </p:cNvPr>
          <p:cNvSpPr>
            <a:spLocks noGrp="1"/>
          </p:cNvSpPr>
          <p:nvPr>
            <p:ph type="sldNum" sz="quarter" idx="12"/>
          </p:nvPr>
        </p:nvSpPr>
        <p:spPr/>
        <p:txBody>
          <a:bodyPr/>
          <a:lstStyle/>
          <a:p>
            <a:fld id="{FE1C2A0E-DBA9-4592-9A03-BB15E8B7AE27}" type="slidenum">
              <a:rPr lang="en-IN" smtClean="0"/>
              <a:pPr/>
              <a:t>‹#›</a:t>
            </a:fld>
            <a:endParaRPr lang="en-IN"/>
          </a:p>
        </p:txBody>
      </p:sp>
    </p:spTree>
    <p:extLst>
      <p:ext uri="{BB962C8B-B14F-4D97-AF65-F5344CB8AC3E}">
        <p14:creationId xmlns:p14="http://schemas.microsoft.com/office/powerpoint/2010/main" val="3278009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691D9-0CBA-4FE9-9CD8-5FA8418C488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0ABFDDD-A490-4393-A054-FB532052D3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53BDD5-1B0E-4EA3-9925-C01F574027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0FBBCFB-C4F7-41DF-AF2E-B338F5B4EE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CFCFDB-D41E-40A2-985D-F4999E5A69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17E0438-4F66-43D1-92DC-6C459846A9DC}"/>
              </a:ext>
            </a:extLst>
          </p:cNvPr>
          <p:cNvSpPr>
            <a:spLocks noGrp="1"/>
          </p:cNvSpPr>
          <p:nvPr>
            <p:ph type="dt" sz="half" idx="10"/>
          </p:nvPr>
        </p:nvSpPr>
        <p:spPr/>
        <p:txBody>
          <a:bodyPr/>
          <a:lstStyle/>
          <a:p>
            <a:fld id="{B76C46B3-326D-4ED8-B3E3-ACBCAE86B82F}" type="datetimeFigureOut">
              <a:rPr lang="en-IN" smtClean="0"/>
              <a:pPr/>
              <a:t>10-04-2026</a:t>
            </a:fld>
            <a:endParaRPr lang="en-IN"/>
          </a:p>
        </p:txBody>
      </p:sp>
      <p:sp>
        <p:nvSpPr>
          <p:cNvPr id="8" name="Footer Placeholder 7">
            <a:extLst>
              <a:ext uri="{FF2B5EF4-FFF2-40B4-BE49-F238E27FC236}">
                <a16:creationId xmlns:a16="http://schemas.microsoft.com/office/drawing/2014/main" id="{3D66FD84-7DBF-497F-A2CC-384EAD90FAF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19DBF75-2A3C-45DF-B5EA-77A53B19186F}"/>
              </a:ext>
            </a:extLst>
          </p:cNvPr>
          <p:cNvSpPr>
            <a:spLocks noGrp="1"/>
          </p:cNvSpPr>
          <p:nvPr>
            <p:ph type="sldNum" sz="quarter" idx="12"/>
          </p:nvPr>
        </p:nvSpPr>
        <p:spPr/>
        <p:txBody>
          <a:bodyPr/>
          <a:lstStyle/>
          <a:p>
            <a:fld id="{FE1C2A0E-DBA9-4592-9A03-BB15E8B7AE27}" type="slidenum">
              <a:rPr lang="en-IN" smtClean="0"/>
              <a:pPr/>
              <a:t>‹#›</a:t>
            </a:fld>
            <a:endParaRPr lang="en-IN"/>
          </a:p>
        </p:txBody>
      </p:sp>
    </p:spTree>
    <p:extLst>
      <p:ext uri="{BB962C8B-B14F-4D97-AF65-F5344CB8AC3E}">
        <p14:creationId xmlns:p14="http://schemas.microsoft.com/office/powerpoint/2010/main" val="2153836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E66C3-8D4B-4025-BD24-6F4C1D6D4D5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1645612-BC2E-4A31-ADF0-BD5AA6D7BC50}"/>
              </a:ext>
            </a:extLst>
          </p:cNvPr>
          <p:cNvSpPr>
            <a:spLocks noGrp="1"/>
          </p:cNvSpPr>
          <p:nvPr>
            <p:ph type="dt" sz="half" idx="10"/>
          </p:nvPr>
        </p:nvSpPr>
        <p:spPr/>
        <p:txBody>
          <a:bodyPr/>
          <a:lstStyle/>
          <a:p>
            <a:fld id="{B76C46B3-326D-4ED8-B3E3-ACBCAE86B82F}" type="datetimeFigureOut">
              <a:rPr lang="en-IN" smtClean="0"/>
              <a:pPr/>
              <a:t>10-04-2026</a:t>
            </a:fld>
            <a:endParaRPr lang="en-IN"/>
          </a:p>
        </p:txBody>
      </p:sp>
      <p:sp>
        <p:nvSpPr>
          <p:cNvPr id="4" name="Footer Placeholder 3">
            <a:extLst>
              <a:ext uri="{FF2B5EF4-FFF2-40B4-BE49-F238E27FC236}">
                <a16:creationId xmlns:a16="http://schemas.microsoft.com/office/drawing/2014/main" id="{7A852715-5123-4D4A-A5C3-F4A50C5E049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5932091-FB7B-4632-B570-55FD723C24A4}"/>
              </a:ext>
            </a:extLst>
          </p:cNvPr>
          <p:cNvSpPr>
            <a:spLocks noGrp="1"/>
          </p:cNvSpPr>
          <p:nvPr>
            <p:ph type="sldNum" sz="quarter" idx="12"/>
          </p:nvPr>
        </p:nvSpPr>
        <p:spPr/>
        <p:txBody>
          <a:bodyPr/>
          <a:lstStyle/>
          <a:p>
            <a:fld id="{FE1C2A0E-DBA9-4592-9A03-BB15E8B7AE27}" type="slidenum">
              <a:rPr lang="en-IN" smtClean="0"/>
              <a:pPr/>
              <a:t>‹#›</a:t>
            </a:fld>
            <a:endParaRPr lang="en-IN"/>
          </a:p>
        </p:txBody>
      </p:sp>
    </p:spTree>
    <p:extLst>
      <p:ext uri="{BB962C8B-B14F-4D97-AF65-F5344CB8AC3E}">
        <p14:creationId xmlns:p14="http://schemas.microsoft.com/office/powerpoint/2010/main" val="10434796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C195C7-BA38-4D17-AE95-C9909657579A}"/>
              </a:ext>
            </a:extLst>
          </p:cNvPr>
          <p:cNvSpPr>
            <a:spLocks noGrp="1"/>
          </p:cNvSpPr>
          <p:nvPr>
            <p:ph type="dt" sz="half" idx="10"/>
          </p:nvPr>
        </p:nvSpPr>
        <p:spPr/>
        <p:txBody>
          <a:bodyPr/>
          <a:lstStyle/>
          <a:p>
            <a:fld id="{B76C46B3-326D-4ED8-B3E3-ACBCAE86B82F}" type="datetimeFigureOut">
              <a:rPr lang="en-IN" smtClean="0"/>
              <a:pPr/>
              <a:t>10-04-2026</a:t>
            </a:fld>
            <a:endParaRPr lang="en-IN"/>
          </a:p>
        </p:txBody>
      </p:sp>
      <p:sp>
        <p:nvSpPr>
          <p:cNvPr id="3" name="Footer Placeholder 2">
            <a:extLst>
              <a:ext uri="{FF2B5EF4-FFF2-40B4-BE49-F238E27FC236}">
                <a16:creationId xmlns:a16="http://schemas.microsoft.com/office/drawing/2014/main" id="{CFBC9CFD-C637-4FDD-8F49-F2D7F7E7BE9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CF29F33-91EA-418C-9B4B-1E19F5CAAFC9}"/>
              </a:ext>
            </a:extLst>
          </p:cNvPr>
          <p:cNvSpPr>
            <a:spLocks noGrp="1"/>
          </p:cNvSpPr>
          <p:nvPr>
            <p:ph type="sldNum" sz="quarter" idx="12"/>
          </p:nvPr>
        </p:nvSpPr>
        <p:spPr/>
        <p:txBody>
          <a:bodyPr/>
          <a:lstStyle/>
          <a:p>
            <a:fld id="{FE1C2A0E-DBA9-4592-9A03-BB15E8B7AE27}" type="slidenum">
              <a:rPr lang="en-IN" smtClean="0"/>
              <a:pPr/>
              <a:t>‹#›</a:t>
            </a:fld>
            <a:endParaRPr lang="en-IN"/>
          </a:p>
        </p:txBody>
      </p:sp>
    </p:spTree>
    <p:extLst>
      <p:ext uri="{BB962C8B-B14F-4D97-AF65-F5344CB8AC3E}">
        <p14:creationId xmlns:p14="http://schemas.microsoft.com/office/powerpoint/2010/main" val="775512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BAE33-F3B9-427F-9C90-FBB1DE8784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D6A8678-0648-46CB-967D-ACDFB63BCF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F530022-7C6C-4E15-9C1F-DAD905EA40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82AC81-C237-442A-BF56-9972B347D764}"/>
              </a:ext>
            </a:extLst>
          </p:cNvPr>
          <p:cNvSpPr>
            <a:spLocks noGrp="1"/>
          </p:cNvSpPr>
          <p:nvPr>
            <p:ph type="dt" sz="half" idx="10"/>
          </p:nvPr>
        </p:nvSpPr>
        <p:spPr/>
        <p:txBody>
          <a:bodyPr/>
          <a:lstStyle/>
          <a:p>
            <a:fld id="{B76C46B3-326D-4ED8-B3E3-ACBCAE86B82F}" type="datetimeFigureOut">
              <a:rPr lang="en-IN" smtClean="0"/>
              <a:pPr/>
              <a:t>10-04-2026</a:t>
            </a:fld>
            <a:endParaRPr lang="en-IN"/>
          </a:p>
        </p:txBody>
      </p:sp>
      <p:sp>
        <p:nvSpPr>
          <p:cNvPr id="6" name="Footer Placeholder 5">
            <a:extLst>
              <a:ext uri="{FF2B5EF4-FFF2-40B4-BE49-F238E27FC236}">
                <a16:creationId xmlns:a16="http://schemas.microsoft.com/office/drawing/2014/main" id="{E9DEF6FD-CD59-414D-A747-5AD055C8E78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9B872B-0864-402C-A45C-47C23A81E4C4}"/>
              </a:ext>
            </a:extLst>
          </p:cNvPr>
          <p:cNvSpPr>
            <a:spLocks noGrp="1"/>
          </p:cNvSpPr>
          <p:nvPr>
            <p:ph type="sldNum" sz="quarter" idx="12"/>
          </p:nvPr>
        </p:nvSpPr>
        <p:spPr/>
        <p:txBody>
          <a:bodyPr/>
          <a:lstStyle/>
          <a:p>
            <a:fld id="{FE1C2A0E-DBA9-4592-9A03-BB15E8B7AE27}" type="slidenum">
              <a:rPr lang="en-IN" smtClean="0"/>
              <a:pPr/>
              <a:t>‹#›</a:t>
            </a:fld>
            <a:endParaRPr lang="en-IN"/>
          </a:p>
        </p:txBody>
      </p:sp>
    </p:spTree>
    <p:extLst>
      <p:ext uri="{BB962C8B-B14F-4D97-AF65-F5344CB8AC3E}">
        <p14:creationId xmlns:p14="http://schemas.microsoft.com/office/powerpoint/2010/main" val="4190373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07B7F-80A8-4CA2-8E6C-8FCFA5DB26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8CED3C3-FFC0-442B-BEE5-07026C1CBD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8356E57-C6D0-409C-9445-C25C39EC98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7D0B74-B38E-4FCE-AB15-C6805FDB5979}"/>
              </a:ext>
            </a:extLst>
          </p:cNvPr>
          <p:cNvSpPr>
            <a:spLocks noGrp="1"/>
          </p:cNvSpPr>
          <p:nvPr>
            <p:ph type="dt" sz="half" idx="10"/>
          </p:nvPr>
        </p:nvSpPr>
        <p:spPr/>
        <p:txBody>
          <a:bodyPr/>
          <a:lstStyle/>
          <a:p>
            <a:fld id="{B76C46B3-326D-4ED8-B3E3-ACBCAE86B82F}" type="datetimeFigureOut">
              <a:rPr lang="en-IN" smtClean="0"/>
              <a:pPr/>
              <a:t>10-04-2026</a:t>
            </a:fld>
            <a:endParaRPr lang="en-IN"/>
          </a:p>
        </p:txBody>
      </p:sp>
      <p:sp>
        <p:nvSpPr>
          <p:cNvPr id="6" name="Footer Placeholder 5">
            <a:extLst>
              <a:ext uri="{FF2B5EF4-FFF2-40B4-BE49-F238E27FC236}">
                <a16:creationId xmlns:a16="http://schemas.microsoft.com/office/drawing/2014/main" id="{109A2665-E0FE-4978-BAC2-1340F695A9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2874001-11F4-4CCF-835F-272CA256FA13}"/>
              </a:ext>
            </a:extLst>
          </p:cNvPr>
          <p:cNvSpPr>
            <a:spLocks noGrp="1"/>
          </p:cNvSpPr>
          <p:nvPr>
            <p:ph type="sldNum" sz="quarter" idx="12"/>
          </p:nvPr>
        </p:nvSpPr>
        <p:spPr/>
        <p:txBody>
          <a:bodyPr/>
          <a:lstStyle/>
          <a:p>
            <a:fld id="{FE1C2A0E-DBA9-4592-9A03-BB15E8B7AE27}" type="slidenum">
              <a:rPr lang="en-IN" smtClean="0"/>
              <a:pPr/>
              <a:t>‹#›</a:t>
            </a:fld>
            <a:endParaRPr lang="en-IN"/>
          </a:p>
        </p:txBody>
      </p:sp>
    </p:spTree>
    <p:extLst>
      <p:ext uri="{BB962C8B-B14F-4D97-AF65-F5344CB8AC3E}">
        <p14:creationId xmlns:p14="http://schemas.microsoft.com/office/powerpoint/2010/main" val="2236541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BAB8C-612F-4017-BEE6-91568A9609D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D7EA145-BFFD-4E90-AC12-2ECD3247DC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4FF472-CC87-4507-ADC0-DAFAFD23BC2F}"/>
              </a:ext>
            </a:extLst>
          </p:cNvPr>
          <p:cNvSpPr>
            <a:spLocks noGrp="1"/>
          </p:cNvSpPr>
          <p:nvPr>
            <p:ph type="dt" sz="half" idx="10"/>
          </p:nvPr>
        </p:nvSpPr>
        <p:spPr/>
        <p:txBody>
          <a:bodyPr/>
          <a:lstStyle/>
          <a:p>
            <a:fld id="{B76C46B3-326D-4ED8-B3E3-ACBCAE86B82F}" type="datetimeFigureOut">
              <a:rPr lang="en-IN" smtClean="0"/>
              <a:pPr/>
              <a:t>10-04-2026</a:t>
            </a:fld>
            <a:endParaRPr lang="en-IN"/>
          </a:p>
        </p:txBody>
      </p:sp>
      <p:sp>
        <p:nvSpPr>
          <p:cNvPr id="5" name="Footer Placeholder 4">
            <a:extLst>
              <a:ext uri="{FF2B5EF4-FFF2-40B4-BE49-F238E27FC236}">
                <a16:creationId xmlns:a16="http://schemas.microsoft.com/office/drawing/2014/main" id="{B5BAA648-7B76-4E8C-A38A-3A30CCD2DA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7F6B38-7376-4637-8CAF-2FC98D16AFF3}"/>
              </a:ext>
            </a:extLst>
          </p:cNvPr>
          <p:cNvSpPr>
            <a:spLocks noGrp="1"/>
          </p:cNvSpPr>
          <p:nvPr>
            <p:ph type="sldNum" sz="quarter" idx="12"/>
          </p:nvPr>
        </p:nvSpPr>
        <p:spPr/>
        <p:txBody>
          <a:bodyPr/>
          <a:lstStyle/>
          <a:p>
            <a:fld id="{FE1C2A0E-DBA9-4592-9A03-BB15E8B7AE27}" type="slidenum">
              <a:rPr lang="en-IN" smtClean="0"/>
              <a:pPr/>
              <a:t>‹#›</a:t>
            </a:fld>
            <a:endParaRPr lang="en-IN"/>
          </a:p>
        </p:txBody>
      </p:sp>
    </p:spTree>
    <p:extLst>
      <p:ext uri="{BB962C8B-B14F-4D97-AF65-F5344CB8AC3E}">
        <p14:creationId xmlns:p14="http://schemas.microsoft.com/office/powerpoint/2010/main" val="156139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4E2D6D-773E-45FC-BCCA-368D83CD01B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2AA2124-8D7F-4FFB-8ECB-AF5DB61C0CF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B12CE9-DC04-4869-A1B1-8DA6DC6DEC02}"/>
              </a:ext>
            </a:extLst>
          </p:cNvPr>
          <p:cNvSpPr>
            <a:spLocks noGrp="1"/>
          </p:cNvSpPr>
          <p:nvPr>
            <p:ph type="dt" sz="half" idx="10"/>
          </p:nvPr>
        </p:nvSpPr>
        <p:spPr/>
        <p:txBody>
          <a:bodyPr/>
          <a:lstStyle/>
          <a:p>
            <a:fld id="{B76C46B3-326D-4ED8-B3E3-ACBCAE86B82F}" type="datetimeFigureOut">
              <a:rPr lang="en-IN" smtClean="0"/>
              <a:pPr/>
              <a:t>10-04-2026</a:t>
            </a:fld>
            <a:endParaRPr lang="en-IN"/>
          </a:p>
        </p:txBody>
      </p:sp>
      <p:sp>
        <p:nvSpPr>
          <p:cNvPr id="5" name="Footer Placeholder 4">
            <a:extLst>
              <a:ext uri="{FF2B5EF4-FFF2-40B4-BE49-F238E27FC236}">
                <a16:creationId xmlns:a16="http://schemas.microsoft.com/office/drawing/2014/main" id="{27AEF730-501E-4C22-8988-A358B85BBB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BC0486-CF51-42F6-AE4F-6AB94104F98F}"/>
              </a:ext>
            </a:extLst>
          </p:cNvPr>
          <p:cNvSpPr>
            <a:spLocks noGrp="1"/>
          </p:cNvSpPr>
          <p:nvPr>
            <p:ph type="sldNum" sz="quarter" idx="12"/>
          </p:nvPr>
        </p:nvSpPr>
        <p:spPr/>
        <p:txBody>
          <a:bodyPr/>
          <a:lstStyle/>
          <a:p>
            <a:fld id="{FE1C2A0E-DBA9-4592-9A03-BB15E8B7AE27}" type="slidenum">
              <a:rPr lang="en-IN" smtClean="0"/>
              <a:pPr/>
              <a:t>‹#›</a:t>
            </a:fld>
            <a:endParaRPr lang="en-IN"/>
          </a:p>
        </p:txBody>
      </p:sp>
    </p:spTree>
    <p:extLst>
      <p:ext uri="{BB962C8B-B14F-4D97-AF65-F5344CB8AC3E}">
        <p14:creationId xmlns:p14="http://schemas.microsoft.com/office/powerpoint/2010/main" val="2664142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6CBF1E-BDC7-40D2-ACBC-3D02A733AD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2016BCE-AFD2-47FF-BB95-6DD0A1982F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C3850B-25F5-4A6A-9636-3AFCF20F72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6C46B3-326D-4ED8-B3E3-ACBCAE86B82F}" type="datetimeFigureOut">
              <a:rPr lang="en-IN" smtClean="0"/>
              <a:pPr/>
              <a:t>10-04-2026</a:t>
            </a:fld>
            <a:endParaRPr lang="en-IN"/>
          </a:p>
        </p:txBody>
      </p:sp>
      <p:sp>
        <p:nvSpPr>
          <p:cNvPr id="5" name="Footer Placeholder 4">
            <a:extLst>
              <a:ext uri="{FF2B5EF4-FFF2-40B4-BE49-F238E27FC236}">
                <a16:creationId xmlns:a16="http://schemas.microsoft.com/office/drawing/2014/main" id="{F5A98F12-F206-4780-99CC-C5C066F599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B1E0F09-934C-4C78-A554-075BC8F36C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1C2A0E-DBA9-4592-9A03-BB15E8B7AE27}" type="slidenum">
              <a:rPr lang="en-IN" smtClean="0"/>
              <a:pPr/>
              <a:t>‹#›</a:t>
            </a:fld>
            <a:endParaRPr lang="en-IN"/>
          </a:p>
        </p:txBody>
      </p:sp>
    </p:spTree>
    <p:extLst>
      <p:ext uri="{BB962C8B-B14F-4D97-AF65-F5344CB8AC3E}">
        <p14:creationId xmlns:p14="http://schemas.microsoft.com/office/powerpoint/2010/main" val="21791774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FD1C7E4-6F8B-5F86-B2A6-65F21E03DFA9}"/>
              </a:ext>
            </a:extLst>
          </p:cNvPr>
          <p:cNvPicPr>
            <a:picLocks noChangeAspect="1"/>
          </p:cNvPicPr>
          <p:nvPr/>
        </p:nvPicPr>
        <p:blipFill>
          <a:blip r:embed="rId2"/>
          <a:stretch>
            <a:fillRect/>
          </a:stretch>
        </p:blipFill>
        <p:spPr>
          <a:xfrm>
            <a:off x="161925" y="96932"/>
            <a:ext cx="12030075" cy="6665817"/>
          </a:xfrm>
          <a:prstGeom prst="rect">
            <a:avLst/>
          </a:prstGeom>
        </p:spPr>
      </p:pic>
    </p:spTree>
    <p:extLst>
      <p:ext uri="{BB962C8B-B14F-4D97-AF65-F5344CB8AC3E}">
        <p14:creationId xmlns:p14="http://schemas.microsoft.com/office/powerpoint/2010/main" val="2373364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24062-F682-43B0-2E96-3DF505D7A4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B17E95-3685-43DD-F942-2A99977C7C28}"/>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DB52A504-78F6-B09D-F452-95DEBE317533}"/>
              </a:ext>
            </a:extLst>
          </p:cNvPr>
          <p:cNvSpPr>
            <a:spLocks noGrp="1"/>
          </p:cNvSpPr>
          <p:nvPr>
            <p:ph idx="1"/>
          </p:nvPr>
        </p:nvSpPr>
        <p:spPr>
          <a:xfrm>
            <a:off x="838199" y="1410687"/>
            <a:ext cx="10702159" cy="5082188"/>
          </a:xfrm>
        </p:spPr>
        <p:txBody>
          <a:bodyPr>
            <a:normAutofit fontScale="92500" lnSpcReduction="10000"/>
          </a:bodyPr>
          <a:lstStyle/>
          <a:p>
            <a:pPr algn="just">
              <a:lnSpc>
                <a:spcPct val="150000"/>
              </a:lnSpc>
            </a:pPr>
            <a:r>
              <a:rPr lang="en-US" dirty="0">
                <a:latin typeface="Times New Roman" panose="02020603050405020304" pitchFamily="18" charset="0"/>
                <a:cs typeface="Times New Roman" panose="02020603050405020304" pitchFamily="18" charset="0"/>
              </a:rPr>
              <a:t>Automation is making modern systems more intelligent and responsive to human needs. </a:t>
            </a:r>
          </a:p>
          <a:p>
            <a:pPr algn="just">
              <a:lnSpc>
                <a:spcPct val="150000"/>
              </a:lnSpc>
            </a:pPr>
            <a:r>
              <a:rPr lang="en-US" dirty="0">
                <a:latin typeface="Times New Roman" panose="02020603050405020304" pitchFamily="18" charset="0"/>
                <a:cs typeface="Times New Roman" panose="02020603050405020304" pitchFamily="18" charset="0"/>
              </a:rPr>
              <a:t>This project presents an emotion-based fan speed control system that uses facial expression recognition to operate a fan automatically. </a:t>
            </a:r>
          </a:p>
          <a:p>
            <a:pPr algn="just">
              <a:lnSpc>
                <a:spcPct val="150000"/>
              </a:lnSpc>
            </a:pPr>
            <a:r>
              <a:rPr lang="en-US" dirty="0">
                <a:latin typeface="Times New Roman" panose="02020603050405020304" pitchFamily="18" charset="0"/>
                <a:cs typeface="Times New Roman" panose="02020603050405020304" pitchFamily="18" charset="0"/>
              </a:rPr>
              <a:t>A camera captures the user’s face, Python detects the emotion, and Arduino adjusts the fan speed with LED indication. </a:t>
            </a:r>
          </a:p>
          <a:p>
            <a:pPr algn="just">
              <a:lnSpc>
                <a:spcPct val="150000"/>
              </a:lnSpc>
            </a:pPr>
            <a:r>
              <a:rPr lang="en-US" dirty="0">
                <a:latin typeface="Times New Roman" panose="02020603050405020304" pitchFamily="18" charset="0"/>
                <a:cs typeface="Times New Roman" panose="02020603050405020304" pitchFamily="18" charset="0"/>
              </a:rPr>
              <a:t>The system creates a simple link between human emotion and appliance control, improving comfort and making the setup more interactive.</a:t>
            </a: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6862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E7F3E-FA79-4F2C-90A5-FCA55320232E}"/>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Problem Identification</a:t>
            </a:r>
          </a:p>
        </p:txBody>
      </p:sp>
      <p:sp>
        <p:nvSpPr>
          <p:cNvPr id="3" name="Content Placeholder 2">
            <a:extLst>
              <a:ext uri="{FF2B5EF4-FFF2-40B4-BE49-F238E27FC236}">
                <a16:creationId xmlns:a16="http://schemas.microsoft.com/office/drawing/2014/main" id="{89F168E8-B62A-4A01-8E77-243C1CEB0BA1}"/>
              </a:ext>
            </a:extLst>
          </p:cNvPr>
          <p:cNvSpPr>
            <a:spLocks noGrp="1"/>
          </p:cNvSpPr>
          <p:nvPr>
            <p:ph idx="1"/>
          </p:nvPr>
        </p:nvSpPr>
        <p:spPr>
          <a:xfrm>
            <a:off x="721272" y="1662935"/>
            <a:ext cx="10749455" cy="4480583"/>
          </a:xfrm>
        </p:spPr>
        <p:txBody>
          <a:bodyPr>
            <a:normAutofit lnSpcReduction="10000"/>
          </a:bodyPr>
          <a:lstStyle/>
          <a:p>
            <a:pPr algn="just">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Traditional fan systems work only with manual control and cannot understand the user’s emotional state. </a:t>
            </a:r>
          </a:p>
          <a:p>
            <a:pPr algn="just">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This creates inconvenience because the fan speed does not adjust automatically according to the person’s mood. </a:t>
            </a:r>
          </a:p>
          <a:p>
            <a:pPr algn="just">
              <a:lnSpc>
                <a:spcPct val="150000"/>
              </a:lnSpc>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To overcome this, the proposed system detects facial emotion using a camera and Python code, then controls the fan speed and LED indication automatically.</a:t>
            </a:r>
            <a:endParaRPr lang="en-IN" sz="2600" dirty="0">
              <a:latin typeface="Times New Roman" panose="02020603050405020304" pitchFamily="18" charset="0"/>
              <a:cs typeface="Times New Roman" panose="02020603050405020304" pitchFamily="18" charset="0"/>
            </a:endParaRPr>
          </a:p>
          <a:p>
            <a:pPr marL="457200" lvl="1" indent="0" algn="just">
              <a:lnSpc>
                <a:spcPct val="150000"/>
              </a:lnSpc>
              <a:buNone/>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179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4D736-A01D-4BB7-3DFF-09A932C6E4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9897C6-E029-9A5D-CBD5-7ABDE9AAA64E}"/>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Objectives</a:t>
            </a:r>
          </a:p>
        </p:txBody>
      </p:sp>
      <p:sp>
        <p:nvSpPr>
          <p:cNvPr id="5" name="Rectangle 3">
            <a:extLst>
              <a:ext uri="{FF2B5EF4-FFF2-40B4-BE49-F238E27FC236}">
                <a16:creationId xmlns:a16="http://schemas.microsoft.com/office/drawing/2014/main" id="{27B221DA-6D4F-6ECB-8C42-A63DA7974EB8}"/>
              </a:ext>
            </a:extLst>
          </p:cNvPr>
          <p:cNvSpPr>
            <a:spLocks noGrp="1" noChangeArrowheads="1"/>
          </p:cNvSpPr>
          <p:nvPr>
            <p:ph idx="1"/>
          </p:nvPr>
        </p:nvSpPr>
        <p:spPr bwMode="auto">
          <a:xfrm>
            <a:off x="1238884" y="1690688"/>
            <a:ext cx="9714232" cy="3297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detect human emotions using facial expressions.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process emotions using Python.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control fan speed automatically based on emotion.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interface with Arduino for hardware control.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display system status using LEDs/LCD</a:t>
            </a:r>
            <a:r>
              <a:rPr kumimoji="0" lang="en-US" altLang="en-US" sz="26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318449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5C5BD-47E3-0CF3-01EF-7DAC8CAAF0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CCC244-DF1E-5CD5-5675-DFE5C7431BF7}"/>
              </a:ext>
            </a:extLst>
          </p:cNvPr>
          <p:cNvSpPr>
            <a:spLocks noGrp="1"/>
          </p:cNvSpPr>
          <p:nvPr>
            <p:ph type="title"/>
          </p:nvPr>
        </p:nvSpPr>
        <p:spPr>
          <a:xfrm>
            <a:off x="578493" y="-74340"/>
            <a:ext cx="10515600" cy="783788"/>
          </a:xfrm>
        </p:spPr>
        <p:txBody>
          <a:bodyPr/>
          <a:lstStyle/>
          <a:p>
            <a:pPr algn="ctr"/>
            <a:r>
              <a:rPr lang="en-IN" dirty="0">
                <a:latin typeface="Times New Roman" panose="02020603050405020304" pitchFamily="18" charset="0"/>
                <a:cs typeface="Times New Roman" panose="02020603050405020304" pitchFamily="18" charset="0"/>
              </a:rPr>
              <a:t>Literature Survey</a:t>
            </a:r>
          </a:p>
        </p:txBody>
      </p:sp>
      <p:graphicFrame>
        <p:nvGraphicFramePr>
          <p:cNvPr id="4" name="Table 4">
            <a:extLst>
              <a:ext uri="{FF2B5EF4-FFF2-40B4-BE49-F238E27FC236}">
                <a16:creationId xmlns:a16="http://schemas.microsoft.com/office/drawing/2014/main" id="{A34C80AF-C5D4-5577-882F-A5AFB566D4EC}"/>
              </a:ext>
            </a:extLst>
          </p:cNvPr>
          <p:cNvGraphicFramePr>
            <a:graphicFrameLocks noGrp="1"/>
          </p:cNvGraphicFramePr>
          <p:nvPr>
            <p:extLst>
              <p:ext uri="{D42A27DB-BD31-4B8C-83A1-F6EECF244321}">
                <p14:modId xmlns:p14="http://schemas.microsoft.com/office/powerpoint/2010/main" val="2501953375"/>
              </p:ext>
            </p:extLst>
          </p:nvPr>
        </p:nvGraphicFramePr>
        <p:xfrm>
          <a:off x="799210" y="709448"/>
          <a:ext cx="11058830" cy="5176066"/>
        </p:xfrm>
        <a:graphic>
          <a:graphicData uri="http://schemas.openxmlformats.org/drawingml/2006/table">
            <a:tbl>
              <a:tblPr firstRow="1" bandRow="1">
                <a:tableStyleId>{5C22544A-7EE6-4342-B048-85BDC9FD1C3A}</a:tableStyleId>
              </a:tblPr>
              <a:tblGrid>
                <a:gridCol w="730045">
                  <a:extLst>
                    <a:ext uri="{9D8B030D-6E8A-4147-A177-3AD203B41FA5}">
                      <a16:colId xmlns:a16="http://schemas.microsoft.com/office/drawing/2014/main" val="1904009212"/>
                    </a:ext>
                  </a:extLst>
                </a:gridCol>
                <a:gridCol w="1560786">
                  <a:extLst>
                    <a:ext uri="{9D8B030D-6E8A-4147-A177-3AD203B41FA5}">
                      <a16:colId xmlns:a16="http://schemas.microsoft.com/office/drawing/2014/main" val="2052513605"/>
                    </a:ext>
                  </a:extLst>
                </a:gridCol>
                <a:gridCol w="2096814">
                  <a:extLst>
                    <a:ext uri="{9D8B030D-6E8A-4147-A177-3AD203B41FA5}">
                      <a16:colId xmlns:a16="http://schemas.microsoft.com/office/drawing/2014/main" val="767088329"/>
                    </a:ext>
                  </a:extLst>
                </a:gridCol>
                <a:gridCol w="2869324">
                  <a:extLst>
                    <a:ext uri="{9D8B030D-6E8A-4147-A177-3AD203B41FA5}">
                      <a16:colId xmlns:a16="http://schemas.microsoft.com/office/drawing/2014/main" val="3333506862"/>
                    </a:ext>
                  </a:extLst>
                </a:gridCol>
                <a:gridCol w="3801861">
                  <a:extLst>
                    <a:ext uri="{9D8B030D-6E8A-4147-A177-3AD203B41FA5}">
                      <a16:colId xmlns:a16="http://schemas.microsoft.com/office/drawing/2014/main" val="265779493"/>
                    </a:ext>
                  </a:extLst>
                </a:gridCol>
              </a:tblGrid>
              <a:tr h="430709">
                <a:tc>
                  <a:txBody>
                    <a:bodyPr/>
                    <a:lstStyle/>
                    <a:p>
                      <a:pPr algn="ctr">
                        <a:lnSpc>
                          <a:spcPct val="100000"/>
                        </a:lnSpc>
                      </a:pPr>
                      <a:r>
                        <a:rPr lang="en-IN" sz="1800" i="0" dirty="0">
                          <a:latin typeface="Times New Roman" panose="02020603050405020304" pitchFamily="18" charset="0"/>
                          <a:cs typeface="Times New Roman" panose="02020603050405020304" pitchFamily="18" charset="0"/>
                        </a:rPr>
                        <a:t>S.no</a:t>
                      </a:r>
                    </a:p>
                  </a:txBody>
                  <a:tcPr/>
                </a:tc>
                <a:tc>
                  <a:txBody>
                    <a:bodyPr/>
                    <a:lstStyle/>
                    <a:p>
                      <a:pPr algn="ctr">
                        <a:lnSpc>
                          <a:spcPct val="100000"/>
                        </a:lnSpc>
                      </a:pPr>
                      <a:r>
                        <a:rPr lang="en-IN" sz="1800" i="0" dirty="0">
                          <a:latin typeface="Times New Roman" panose="02020603050405020304" pitchFamily="18" charset="0"/>
                          <a:cs typeface="Times New Roman" panose="02020603050405020304" pitchFamily="18" charset="0"/>
                        </a:rPr>
                        <a:t>Author</a:t>
                      </a:r>
                    </a:p>
                  </a:txBody>
                  <a:tcPr/>
                </a:tc>
                <a:tc>
                  <a:txBody>
                    <a:bodyPr/>
                    <a:lstStyle/>
                    <a:p>
                      <a:pPr algn="ctr">
                        <a:lnSpc>
                          <a:spcPct val="100000"/>
                        </a:lnSpc>
                      </a:pPr>
                      <a:r>
                        <a:rPr lang="en-IN" sz="1800" i="0" dirty="0">
                          <a:latin typeface="Times New Roman" panose="02020603050405020304" pitchFamily="18" charset="0"/>
                          <a:cs typeface="Times New Roman" panose="02020603050405020304" pitchFamily="18" charset="0"/>
                        </a:rPr>
                        <a:t>Title</a:t>
                      </a:r>
                    </a:p>
                  </a:txBody>
                  <a:tcPr/>
                </a:tc>
                <a:tc>
                  <a:txBody>
                    <a:bodyPr/>
                    <a:lstStyle/>
                    <a:p>
                      <a:pPr algn="ctr">
                        <a:lnSpc>
                          <a:spcPct val="100000"/>
                        </a:lnSpc>
                      </a:pPr>
                      <a:r>
                        <a:rPr lang="en-IN" sz="1800" i="0" dirty="0">
                          <a:latin typeface="Times New Roman" panose="02020603050405020304" pitchFamily="18" charset="0"/>
                          <a:cs typeface="Times New Roman" panose="02020603050405020304" pitchFamily="18" charset="0"/>
                        </a:rPr>
                        <a:t>Problem</a:t>
                      </a:r>
                    </a:p>
                  </a:txBody>
                  <a:tcPr/>
                </a:tc>
                <a:tc>
                  <a:txBody>
                    <a:bodyPr/>
                    <a:lstStyle/>
                    <a:p>
                      <a:pPr algn="ctr">
                        <a:lnSpc>
                          <a:spcPct val="100000"/>
                        </a:lnSpc>
                      </a:pPr>
                      <a:r>
                        <a:rPr lang="en-IN" sz="1800" i="0" dirty="0">
                          <a:latin typeface="Times New Roman" panose="02020603050405020304" pitchFamily="18" charset="0"/>
                          <a:cs typeface="Times New Roman" panose="02020603050405020304" pitchFamily="18" charset="0"/>
                        </a:rPr>
                        <a:t>Summary</a:t>
                      </a:r>
                    </a:p>
                  </a:txBody>
                  <a:tcPr/>
                </a:tc>
                <a:extLst>
                  <a:ext uri="{0D108BD9-81ED-4DB2-BD59-A6C34878D82A}">
                    <a16:rowId xmlns:a16="http://schemas.microsoft.com/office/drawing/2014/main" val="957702034"/>
                  </a:ext>
                </a:extLst>
              </a:tr>
              <a:tr h="706757">
                <a:tc>
                  <a:txBody>
                    <a:bodyPr/>
                    <a:lstStyle/>
                    <a:p>
                      <a:pPr algn="ctr">
                        <a:lnSpc>
                          <a:spcPct val="100000"/>
                        </a:lnSpc>
                      </a:pPr>
                      <a:r>
                        <a:rPr lang="en-US" sz="1800" i="0" dirty="0">
                          <a:latin typeface="Times New Roman" panose="02020603050405020304" pitchFamily="18" charset="0"/>
                          <a:cs typeface="Times New Roman" panose="02020603050405020304" pitchFamily="18" charset="0"/>
                        </a:rPr>
                        <a:t>1</a:t>
                      </a:r>
                      <a:endParaRPr lang="en-IN" sz="1800" i="0" dirty="0">
                        <a:latin typeface="Times New Roman" panose="02020603050405020304" pitchFamily="18" charset="0"/>
                        <a:cs typeface="Times New Roman" panose="02020603050405020304" pitchFamily="18" charset="0"/>
                      </a:endParaRPr>
                    </a:p>
                  </a:txBody>
                  <a:tcPr/>
                </a:tc>
                <a:tc>
                  <a:txBody>
                    <a:bodyPr/>
                    <a:lstStyle/>
                    <a:p>
                      <a:pPr algn="l">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Hadjar, H., et al.</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l">
                        <a:lnSpc>
                          <a:spcPct val="100000"/>
                        </a:lnSpc>
                        <a:spcAft>
                          <a:spcPts val="1000"/>
                        </a:spcAft>
                        <a:buNone/>
                      </a:pPr>
                      <a:r>
                        <a:rPr lang="en-IN" sz="2000" i="0">
                          <a:effectLst/>
                          <a:latin typeface="Times New Roman" panose="02020603050405020304" pitchFamily="18" charset="0"/>
                          <a:ea typeface="Times New Roman" panose="02020603050405020304" pitchFamily="18" charset="0"/>
                          <a:cs typeface="Times New Roman" panose="02020603050405020304" pitchFamily="18" charset="0"/>
                        </a:rPr>
                        <a:t>TheraSense</a:t>
                      </a:r>
                      <a:endParaRPr lang="en-IN" sz="2000" i="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Difficult to detect emotion accurately in real time from video.</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Proposed a deep learning system for real-time facial emotion recognition in teleconsultation. </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940804042"/>
                  </a:ext>
                </a:extLst>
              </a:tr>
              <a:tr h="706757">
                <a:tc>
                  <a:txBody>
                    <a:bodyPr/>
                    <a:lstStyle/>
                    <a:p>
                      <a:pPr algn="ctr">
                        <a:lnSpc>
                          <a:spcPct val="100000"/>
                        </a:lnSpc>
                      </a:pPr>
                      <a:r>
                        <a:rPr lang="en-US" sz="1800" i="0" dirty="0">
                          <a:latin typeface="Times New Roman" panose="02020603050405020304" pitchFamily="18" charset="0"/>
                          <a:cs typeface="Times New Roman" panose="02020603050405020304" pitchFamily="18" charset="0"/>
                        </a:rPr>
                        <a:t>2</a:t>
                      </a:r>
                      <a:endParaRPr lang="en-IN" sz="1800" i="0" dirty="0">
                        <a:latin typeface="Times New Roman" panose="02020603050405020304" pitchFamily="18" charset="0"/>
                        <a:cs typeface="Times New Roman" panose="02020603050405020304" pitchFamily="18" charset="0"/>
                      </a:endParaRPr>
                    </a:p>
                  </a:txBody>
                  <a:tcPr/>
                </a:tc>
                <a:tc>
                  <a:txBody>
                    <a:bodyPr/>
                    <a:lstStyle/>
                    <a:p>
                      <a:pPr algn="l">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Bai, M., et al.</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l">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Lightweight Emotion Analysis Solution Using </a:t>
                      </a:r>
                      <a:r>
                        <a:rPr lang="en-IN" sz="2000" i="0" dirty="0" err="1">
                          <a:effectLst/>
                          <a:latin typeface="Times New Roman" panose="02020603050405020304" pitchFamily="18" charset="0"/>
                          <a:ea typeface="Times New Roman" panose="02020603050405020304" pitchFamily="18" charset="0"/>
                          <a:cs typeface="Times New Roman" panose="02020603050405020304" pitchFamily="18" charset="0"/>
                        </a:rPr>
                        <a:t>TinyML</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Existing models are too heavy for embedded devices.</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Developed a lightweight </a:t>
                      </a:r>
                      <a:r>
                        <a:rPr lang="en-IN" sz="2000" i="0" dirty="0" err="1">
                          <a:effectLst/>
                          <a:latin typeface="Times New Roman" panose="02020603050405020304" pitchFamily="18" charset="0"/>
                          <a:ea typeface="Times New Roman" panose="02020603050405020304" pitchFamily="18" charset="0"/>
                          <a:cs typeface="Times New Roman" panose="02020603050405020304" pitchFamily="18" charset="0"/>
                        </a:rPr>
                        <a:t>TinyML</a:t>
                      </a: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 model for facial emotion recognition on portable devices. </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88281227"/>
                  </a:ext>
                </a:extLst>
              </a:tr>
              <a:tr h="706757">
                <a:tc>
                  <a:txBody>
                    <a:bodyPr/>
                    <a:lstStyle/>
                    <a:p>
                      <a:pPr algn="ctr">
                        <a:lnSpc>
                          <a:spcPct val="100000"/>
                        </a:lnSpc>
                      </a:pPr>
                      <a:r>
                        <a:rPr lang="en-US" sz="1800" i="0" dirty="0">
                          <a:latin typeface="Times New Roman" panose="02020603050405020304" pitchFamily="18" charset="0"/>
                          <a:cs typeface="Times New Roman" panose="02020603050405020304" pitchFamily="18" charset="0"/>
                        </a:rPr>
                        <a:t>3</a:t>
                      </a:r>
                      <a:endParaRPr lang="en-IN" sz="1800" i="0" dirty="0">
                        <a:latin typeface="Times New Roman" panose="02020603050405020304" pitchFamily="18" charset="0"/>
                        <a:cs typeface="Times New Roman" panose="02020603050405020304" pitchFamily="18" charset="0"/>
                      </a:endParaRPr>
                    </a:p>
                  </a:txBody>
                  <a:tcPr/>
                </a:tc>
                <a:tc>
                  <a:txBody>
                    <a:bodyPr/>
                    <a:lstStyle/>
                    <a:p>
                      <a:pPr algn="l">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Sone, Y., et al.</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l">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Control Support System for Smart Homes</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Smart homes lack personalized automatic control.</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Presented an intelligent smart home control system based on user-interest analysis. </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033656645"/>
                  </a:ext>
                </a:extLst>
              </a:tr>
              <a:tr h="706757">
                <a:tc>
                  <a:txBody>
                    <a:bodyPr/>
                    <a:lstStyle/>
                    <a:p>
                      <a:pPr algn="ctr">
                        <a:lnSpc>
                          <a:spcPct val="100000"/>
                        </a:lnSpc>
                      </a:pPr>
                      <a:r>
                        <a:rPr lang="en-US" sz="1800" i="0" dirty="0">
                          <a:latin typeface="Times New Roman" panose="02020603050405020304" pitchFamily="18" charset="0"/>
                          <a:cs typeface="Times New Roman" panose="02020603050405020304" pitchFamily="18" charset="0"/>
                        </a:rPr>
                        <a:t>4</a:t>
                      </a:r>
                      <a:endParaRPr lang="en-IN" sz="1800" i="0" dirty="0">
                        <a:latin typeface="Times New Roman" panose="02020603050405020304" pitchFamily="18" charset="0"/>
                        <a:cs typeface="Times New Roman" panose="02020603050405020304" pitchFamily="18" charset="0"/>
                      </a:endParaRPr>
                    </a:p>
                  </a:txBody>
                  <a:tcPr/>
                </a:tc>
                <a:tc>
                  <a:txBody>
                    <a:bodyPr/>
                    <a:lstStyle/>
                    <a:p>
                      <a:pPr algn="l">
                        <a:lnSpc>
                          <a:spcPct val="100000"/>
                        </a:lnSpc>
                        <a:spcAft>
                          <a:spcPts val="1000"/>
                        </a:spcAft>
                        <a:buNone/>
                      </a:pPr>
                      <a:r>
                        <a:rPr lang="en-IN" sz="2000" i="0">
                          <a:effectLst/>
                          <a:latin typeface="Times New Roman" panose="02020603050405020304" pitchFamily="18" charset="0"/>
                          <a:ea typeface="Times New Roman" panose="02020603050405020304" pitchFamily="18" charset="0"/>
                          <a:cs typeface="Times New Roman" panose="02020603050405020304" pitchFamily="18" charset="0"/>
                        </a:rPr>
                        <a:t>Addow, M. A., et al.</a:t>
                      </a:r>
                      <a:endParaRPr lang="en-IN" sz="2000" i="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l">
                        <a:lnSpc>
                          <a:spcPct val="100000"/>
                        </a:lnSpc>
                        <a:spcAft>
                          <a:spcPts val="1000"/>
                        </a:spcAft>
                        <a:buNone/>
                      </a:pPr>
                      <a:r>
                        <a:rPr lang="en-IN" sz="2000" i="0">
                          <a:effectLst/>
                          <a:latin typeface="Times New Roman" panose="02020603050405020304" pitchFamily="18" charset="0"/>
                          <a:ea typeface="Times New Roman" panose="02020603050405020304" pitchFamily="18" charset="0"/>
                          <a:cs typeface="Times New Roman" panose="02020603050405020304" pitchFamily="18" charset="0"/>
                        </a:rPr>
                        <a:t>Low-Cost IoT-Based Smart Home Automation System</a:t>
                      </a:r>
                      <a:endParaRPr lang="en-IN" sz="2000" i="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Smart automation is often costly.</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Designed a low-cost IoT system for appliance automation and monitoring. </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981061743"/>
                  </a:ext>
                </a:extLst>
              </a:tr>
              <a:tr h="706757">
                <a:tc>
                  <a:txBody>
                    <a:bodyPr/>
                    <a:lstStyle/>
                    <a:p>
                      <a:pPr algn="ctr">
                        <a:lnSpc>
                          <a:spcPct val="100000"/>
                        </a:lnSpc>
                      </a:pPr>
                      <a:r>
                        <a:rPr lang="en-US" sz="1800" i="0" dirty="0">
                          <a:latin typeface="Times New Roman" panose="02020603050405020304" pitchFamily="18" charset="0"/>
                          <a:cs typeface="Times New Roman" panose="02020603050405020304" pitchFamily="18" charset="0"/>
                        </a:rPr>
                        <a:t>5</a:t>
                      </a:r>
                      <a:endParaRPr lang="en-IN" sz="1800" i="0" dirty="0">
                        <a:latin typeface="Times New Roman" panose="02020603050405020304" pitchFamily="18" charset="0"/>
                        <a:cs typeface="Times New Roman" panose="02020603050405020304" pitchFamily="18" charset="0"/>
                      </a:endParaRPr>
                    </a:p>
                  </a:txBody>
                  <a:tcPr/>
                </a:tc>
                <a:tc>
                  <a:txBody>
                    <a:bodyPr/>
                    <a:lstStyle/>
                    <a:p>
                      <a:pPr algn="l">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Aleran, A., et al.</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l">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AI and IoT in Energy Preservation</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Energy wastage remains high in automated systems.</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tc>
                  <a:txBody>
                    <a:bodyPr/>
                    <a:lstStyle/>
                    <a:p>
                      <a:pPr algn="just">
                        <a:lnSpc>
                          <a:spcPct val="100000"/>
                        </a:lnSpc>
                        <a:spcAft>
                          <a:spcPts val="1000"/>
                        </a:spcAft>
                        <a:buNone/>
                      </a:pPr>
                      <a:r>
                        <a:rPr lang="en-IN" sz="2000" i="0" dirty="0">
                          <a:effectLst/>
                          <a:latin typeface="Times New Roman" panose="02020603050405020304" pitchFamily="18" charset="0"/>
                          <a:ea typeface="Times New Roman" panose="02020603050405020304" pitchFamily="18" charset="0"/>
                          <a:cs typeface="Times New Roman" panose="02020603050405020304" pitchFamily="18" charset="0"/>
                        </a:rPr>
                        <a:t>Reviewed how AI and IoT improve energy-efficient appliance control. </a:t>
                      </a:r>
                      <a:endParaRPr lang="en-IN"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96291573"/>
                  </a:ext>
                </a:extLst>
              </a:tr>
            </a:tbl>
          </a:graphicData>
        </a:graphic>
      </p:graphicFrame>
    </p:spTree>
    <p:extLst>
      <p:ext uri="{BB962C8B-B14F-4D97-AF65-F5344CB8AC3E}">
        <p14:creationId xmlns:p14="http://schemas.microsoft.com/office/powerpoint/2010/main" val="4190696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EE255-71C3-43D4-80A2-91C6821FF359}"/>
              </a:ext>
            </a:extLst>
          </p:cNvPr>
          <p:cNvSpPr>
            <a:spLocks noGrp="1"/>
          </p:cNvSpPr>
          <p:nvPr>
            <p:ph type="title"/>
          </p:nvPr>
        </p:nvSpPr>
        <p:spPr>
          <a:xfrm>
            <a:off x="1011620" y="0"/>
            <a:ext cx="10515600" cy="1325563"/>
          </a:xfrm>
        </p:spPr>
        <p:txBody>
          <a:bodyPr/>
          <a:lstStyle/>
          <a:p>
            <a:pPr algn="ctr"/>
            <a:r>
              <a:rPr lang="en-US" dirty="0">
                <a:latin typeface="Times New Roman" panose="02020603050405020304" pitchFamily="18" charset="0"/>
                <a:cs typeface="Times New Roman" panose="02020603050405020304" pitchFamily="18" charset="0"/>
              </a:rPr>
              <a:t>Existing System</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9EFBAB2-7804-1CD9-3347-9C6191A151A0}"/>
              </a:ext>
            </a:extLst>
          </p:cNvPr>
          <p:cNvSpPr txBox="1"/>
          <p:nvPr/>
        </p:nvSpPr>
        <p:spPr>
          <a:xfrm>
            <a:off x="664780" y="2767680"/>
            <a:ext cx="6093372" cy="3885936"/>
          </a:xfrm>
          <a:prstGeom prst="rect">
            <a:avLst/>
          </a:prstGeom>
          <a:noFill/>
        </p:spPr>
        <p:txBody>
          <a:bodyPr wrap="square">
            <a:spAutoFit/>
          </a:bodyPr>
          <a:lstStyle/>
          <a:p>
            <a:pPr algn="just">
              <a:lnSpc>
                <a:spcPct val="200000"/>
              </a:lnSpc>
              <a:buNone/>
            </a:pPr>
            <a:r>
              <a:rPr lang="en-US" b="1" dirty="0">
                <a:latin typeface="Times New Roman" panose="02020603050405020304" pitchFamily="18" charset="0"/>
                <a:cs typeface="Times New Roman" panose="02020603050405020304" pitchFamily="18" charset="0"/>
              </a:rPr>
              <a:t>Disadvantages of Existing System:</a:t>
            </a:r>
            <a:endParaRPr lang="en-US" dirty="0">
              <a:latin typeface="Times New Roman" panose="02020603050405020304" pitchFamily="18" charset="0"/>
              <a:cs typeface="Times New Roman" panose="02020603050405020304" pitchFamily="18" charset="0"/>
            </a:endParaRPr>
          </a:p>
          <a:p>
            <a:pPr marL="342900" indent="-342900" algn="just">
              <a:lnSpc>
                <a:spcPct val="200000"/>
              </a:lnSpc>
              <a:buFont typeface="+mj-lt"/>
              <a:buAutoNum type="arabicPeriod"/>
            </a:pPr>
            <a:r>
              <a:rPr lang="en-US" dirty="0">
                <a:latin typeface="Times New Roman" panose="02020603050405020304" pitchFamily="18" charset="0"/>
                <a:cs typeface="Times New Roman" panose="02020603050405020304" pitchFamily="18" charset="0"/>
              </a:rPr>
              <a:t>Requires manual operation </a:t>
            </a:r>
          </a:p>
          <a:p>
            <a:pPr marL="342900" indent="-342900" algn="just">
              <a:lnSpc>
                <a:spcPct val="200000"/>
              </a:lnSpc>
              <a:buFont typeface="+mj-lt"/>
              <a:buAutoNum type="arabicPeriod"/>
            </a:pPr>
            <a:r>
              <a:rPr lang="en-US" dirty="0">
                <a:latin typeface="Times New Roman" panose="02020603050405020304" pitchFamily="18" charset="0"/>
                <a:cs typeface="Times New Roman" panose="02020603050405020304" pitchFamily="18" charset="0"/>
              </a:rPr>
              <a:t>No emotion recognition capability </a:t>
            </a:r>
          </a:p>
          <a:p>
            <a:pPr marL="342900" indent="-342900" algn="just">
              <a:lnSpc>
                <a:spcPct val="200000"/>
              </a:lnSpc>
              <a:buFont typeface="+mj-lt"/>
              <a:buAutoNum type="arabicPeriod"/>
            </a:pPr>
            <a:r>
              <a:rPr lang="en-US" dirty="0">
                <a:latin typeface="Times New Roman" panose="02020603050405020304" pitchFamily="18" charset="0"/>
                <a:cs typeface="Times New Roman" panose="02020603050405020304" pitchFamily="18" charset="0"/>
              </a:rPr>
              <a:t>Cannot provide personalized control </a:t>
            </a:r>
          </a:p>
          <a:p>
            <a:pPr marL="342900" indent="-342900" algn="just">
              <a:lnSpc>
                <a:spcPct val="200000"/>
              </a:lnSpc>
              <a:buFont typeface="+mj-lt"/>
              <a:buAutoNum type="arabicPeriod"/>
            </a:pPr>
            <a:r>
              <a:rPr lang="en-US" dirty="0">
                <a:latin typeface="Times New Roman" panose="02020603050405020304" pitchFamily="18" charset="0"/>
                <a:cs typeface="Times New Roman" panose="02020603050405020304" pitchFamily="18" charset="0"/>
              </a:rPr>
              <a:t>Less intelligent and less interactive </a:t>
            </a:r>
          </a:p>
          <a:p>
            <a:pPr marL="342900" indent="-342900" algn="just">
              <a:lnSpc>
                <a:spcPct val="200000"/>
              </a:lnSpc>
              <a:buFont typeface="+mj-lt"/>
              <a:buAutoNum type="arabicPeriod"/>
            </a:pPr>
            <a:r>
              <a:rPr lang="en-US" dirty="0">
                <a:latin typeface="Times New Roman" panose="02020603050405020304" pitchFamily="18" charset="0"/>
                <a:cs typeface="Times New Roman" panose="02020603050405020304" pitchFamily="18" charset="0"/>
              </a:rPr>
              <a:t>May lead to unnecessary power usage </a:t>
            </a:r>
          </a:p>
          <a:p>
            <a:pPr marL="342900" indent="-342900" algn="just">
              <a:lnSpc>
                <a:spcPct val="200000"/>
              </a:lnSpc>
              <a:buFont typeface="+mj-lt"/>
              <a:buAutoNum type="arabicPeriod"/>
            </a:pPr>
            <a:r>
              <a:rPr lang="en-US" dirty="0">
                <a:latin typeface="Times New Roman" panose="02020603050405020304" pitchFamily="18" charset="0"/>
                <a:cs typeface="Times New Roman" panose="02020603050405020304" pitchFamily="18" charset="0"/>
              </a:rPr>
              <a:t>Does not improve user comfort based on mood </a:t>
            </a:r>
          </a:p>
        </p:txBody>
      </p:sp>
      <p:sp>
        <p:nvSpPr>
          <p:cNvPr id="7" name="TextBox 6">
            <a:extLst>
              <a:ext uri="{FF2B5EF4-FFF2-40B4-BE49-F238E27FC236}">
                <a16:creationId xmlns:a16="http://schemas.microsoft.com/office/drawing/2014/main" id="{69CA9A5A-83A5-5596-B0F0-FB3449679411}"/>
              </a:ext>
            </a:extLst>
          </p:cNvPr>
          <p:cNvSpPr txBox="1"/>
          <p:nvPr/>
        </p:nvSpPr>
        <p:spPr>
          <a:xfrm>
            <a:off x="664780" y="1139256"/>
            <a:ext cx="10862440" cy="1421992"/>
          </a:xfrm>
          <a:prstGeom prst="rect">
            <a:avLst/>
          </a:prstGeom>
          <a:noFill/>
        </p:spPr>
        <p:txBody>
          <a:bodyPr wrap="square">
            <a:spAutoFit/>
          </a:bodyPr>
          <a:lstStyle/>
          <a:p>
            <a:pPr algn="just">
              <a:lnSpc>
                <a:spcPct val="150000"/>
              </a:lnSpc>
              <a:buNone/>
            </a:pPr>
            <a:r>
              <a:rPr lang="en-US" sz="2000" dirty="0">
                <a:latin typeface="Times New Roman" panose="02020603050405020304" pitchFamily="18" charset="0"/>
                <a:cs typeface="Times New Roman" panose="02020603050405020304" pitchFamily="18" charset="0"/>
              </a:rPr>
              <a:t>In the existing system, fan speed is controlled manually using switches or regulators. Some automatic systems use temperature sensors or timer-based control, but they do not consider the user’s emotional condition. These systems only respond to fixed inputs and cannot provide personalized comfort.</a:t>
            </a:r>
          </a:p>
        </p:txBody>
      </p:sp>
    </p:spTree>
    <p:extLst>
      <p:ext uri="{BB962C8B-B14F-4D97-AF65-F5344CB8AC3E}">
        <p14:creationId xmlns:p14="http://schemas.microsoft.com/office/powerpoint/2010/main" val="4266393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E27181-91F5-4661-9ED5-45349E0C5297}"/>
              </a:ext>
            </a:extLst>
          </p:cNvPr>
          <p:cNvSpPr>
            <a:spLocks noGrp="1"/>
          </p:cNvSpPr>
          <p:nvPr>
            <p:ph type="title"/>
          </p:nvPr>
        </p:nvSpPr>
        <p:spPr>
          <a:xfrm>
            <a:off x="955127" y="0"/>
            <a:ext cx="10515600" cy="1325563"/>
          </a:xfrm>
        </p:spPr>
        <p:txBody>
          <a:bodyPr/>
          <a:lstStyle/>
          <a:p>
            <a:pPr algn="ctr"/>
            <a:r>
              <a:rPr lang="en-IN" dirty="0">
                <a:latin typeface="Times New Roman" panose="02020603050405020304" pitchFamily="18" charset="0"/>
                <a:cs typeface="Times New Roman" panose="02020603050405020304" pitchFamily="18" charset="0"/>
              </a:rPr>
              <a:t>Proposed System</a:t>
            </a:r>
          </a:p>
        </p:txBody>
      </p:sp>
      <p:sp>
        <p:nvSpPr>
          <p:cNvPr id="5" name="Content Placeholder 4">
            <a:extLst>
              <a:ext uri="{FF2B5EF4-FFF2-40B4-BE49-F238E27FC236}">
                <a16:creationId xmlns:a16="http://schemas.microsoft.com/office/drawing/2014/main" id="{860D161F-A522-405A-BE37-83ECCE693688}"/>
              </a:ext>
            </a:extLst>
          </p:cNvPr>
          <p:cNvSpPr>
            <a:spLocks noGrp="1"/>
          </p:cNvSpPr>
          <p:nvPr>
            <p:ph idx="1"/>
          </p:nvPr>
        </p:nvSpPr>
        <p:spPr>
          <a:xfrm>
            <a:off x="838200" y="1224017"/>
            <a:ext cx="10749455" cy="5268858"/>
          </a:xfrm>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proposed system uses a camera to capture the user’s facial expression in real time. </a:t>
            </a:r>
          </a:p>
          <a:p>
            <a:pPr algn="just">
              <a:lnSpc>
                <a:spcPct val="150000"/>
              </a:lnSpc>
            </a:pPr>
            <a:r>
              <a:rPr lang="en-US" sz="2000" dirty="0">
                <a:latin typeface="Times New Roman" panose="02020603050405020304" pitchFamily="18" charset="0"/>
                <a:cs typeface="Times New Roman" panose="02020603050405020304" pitchFamily="18" charset="0"/>
              </a:rPr>
              <a:t>The captured image is processed using Python-based emotion detection to identify emotions such as anger, happy, and sad. The detected emotion is then sent to the Arduino Uno, which acts as the main control unit. </a:t>
            </a:r>
          </a:p>
          <a:p>
            <a:pPr algn="just">
              <a:lnSpc>
                <a:spcPct val="150000"/>
              </a:lnSpc>
            </a:pPr>
            <a:r>
              <a:rPr lang="en-US" sz="2000" dirty="0">
                <a:latin typeface="Times New Roman" panose="02020603050405020304" pitchFamily="18" charset="0"/>
                <a:cs typeface="Times New Roman" panose="02020603050405020304" pitchFamily="18" charset="0"/>
              </a:rPr>
              <a:t>Based on the emotion received, the Arduino controls the fan speed through a motor driver and turns ON the corresponding LED indicator. </a:t>
            </a:r>
          </a:p>
          <a:p>
            <a:pPr algn="just">
              <a:lnSpc>
                <a:spcPct val="150000"/>
              </a:lnSpc>
            </a:pPr>
            <a:r>
              <a:rPr lang="en-US" sz="2000" dirty="0">
                <a:latin typeface="Times New Roman" panose="02020603050405020304" pitchFamily="18" charset="0"/>
                <a:cs typeface="Times New Roman" panose="02020603050405020304" pitchFamily="18" charset="0"/>
              </a:rPr>
              <a:t>In this system, anger makes the fan run at high speed with red LED ON, sad makes the fan run at medium speed with yellow LED ON, and happy keeps the fan OFF with green LED ON. </a:t>
            </a:r>
          </a:p>
          <a:p>
            <a:pPr algn="just">
              <a:lnSpc>
                <a:spcPct val="150000"/>
              </a:lnSpc>
            </a:pPr>
            <a:r>
              <a:rPr lang="en-US" sz="2000" dirty="0">
                <a:latin typeface="Times New Roman" panose="02020603050405020304" pitchFamily="18" charset="0"/>
                <a:cs typeface="Times New Roman" panose="02020603050405020304" pitchFamily="18" charset="0"/>
              </a:rPr>
              <a:t>The LCD display shows the detected emotion and current system status, making the system smart, automatic, and user-friendly</a:t>
            </a:r>
            <a:r>
              <a:rPr lang="en-US" sz="2400" dirty="0"/>
              <a:t>.</a:t>
            </a:r>
          </a:p>
        </p:txBody>
      </p:sp>
    </p:spTree>
    <p:extLst>
      <p:ext uri="{BB962C8B-B14F-4D97-AF65-F5344CB8AC3E}">
        <p14:creationId xmlns:p14="http://schemas.microsoft.com/office/powerpoint/2010/main" val="1167957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E27181-91F5-4661-9ED5-45349E0C5297}"/>
              </a:ext>
            </a:extLst>
          </p:cNvPr>
          <p:cNvSpPr>
            <a:spLocks noGrp="1"/>
          </p:cNvSpPr>
          <p:nvPr>
            <p:ph type="title"/>
          </p:nvPr>
        </p:nvSpPr>
        <p:spPr>
          <a:xfrm>
            <a:off x="838200" y="-344323"/>
            <a:ext cx="10515600" cy="1325563"/>
          </a:xfrm>
        </p:spPr>
        <p:txBody>
          <a:bodyPr>
            <a:normAutofit/>
          </a:bodyPr>
          <a:lstStyle/>
          <a:p>
            <a:pPr algn="ctr"/>
            <a:r>
              <a:rPr lang="en-IN" sz="4000" dirty="0">
                <a:latin typeface="Times New Roman" panose="02020603050405020304" pitchFamily="18" charset="0"/>
                <a:cs typeface="Times New Roman" panose="02020603050405020304" pitchFamily="18" charset="0"/>
              </a:rPr>
              <a:t>Block Diagram</a:t>
            </a:r>
          </a:p>
        </p:txBody>
      </p:sp>
      <p:sp>
        <p:nvSpPr>
          <p:cNvPr id="3" name="AutoShape 2" descr="Generated image: Emotion-based fan speed control system">
            <a:extLst>
              <a:ext uri="{FF2B5EF4-FFF2-40B4-BE49-F238E27FC236}">
                <a16:creationId xmlns:a16="http://schemas.microsoft.com/office/drawing/2014/main" id="{8ADDC516-DCF4-5CE8-992C-4B059A09290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descr="Diagram of a computer circuit diagram&#10;&#10;Description automatically generated">
            <a:extLst>
              <a:ext uri="{FF2B5EF4-FFF2-40B4-BE49-F238E27FC236}">
                <a16:creationId xmlns:a16="http://schemas.microsoft.com/office/drawing/2014/main" id="{FACC9CA5-E8B4-48F1-8A5F-A7CF67D108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3626" y="793819"/>
            <a:ext cx="10600174" cy="5797899"/>
          </a:xfrm>
          <a:prstGeom prst="rect">
            <a:avLst/>
          </a:prstGeom>
        </p:spPr>
      </p:pic>
    </p:spTree>
    <p:extLst>
      <p:ext uri="{BB962C8B-B14F-4D97-AF65-F5344CB8AC3E}">
        <p14:creationId xmlns:p14="http://schemas.microsoft.com/office/powerpoint/2010/main" val="31228580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0CF48-EE82-4A8F-AEEC-338557C0C813}"/>
              </a:ext>
            </a:extLst>
          </p:cNvPr>
          <p:cNvSpPr>
            <a:spLocks noGrp="1"/>
          </p:cNvSpPr>
          <p:nvPr>
            <p:ph type="title"/>
          </p:nvPr>
        </p:nvSpPr>
        <p:spPr>
          <a:xfrm>
            <a:off x="838200" y="0"/>
            <a:ext cx="10515600" cy="1325563"/>
          </a:xfrm>
        </p:spPr>
        <p:txBody>
          <a:bodyPr/>
          <a:lstStyle/>
          <a:p>
            <a:pPr algn="ctr"/>
            <a:r>
              <a:rPr lang="en-IN" dirty="0">
                <a:latin typeface="Times New Roman" panose="02020603050405020304" pitchFamily="18" charset="0"/>
                <a:cs typeface="Times New Roman" panose="02020603050405020304" pitchFamily="18" charset="0"/>
              </a:rPr>
              <a:t>Operation</a:t>
            </a:r>
          </a:p>
        </p:txBody>
      </p:sp>
      <p:sp>
        <p:nvSpPr>
          <p:cNvPr id="4" name="TextBox 3">
            <a:extLst>
              <a:ext uri="{FF2B5EF4-FFF2-40B4-BE49-F238E27FC236}">
                <a16:creationId xmlns:a16="http://schemas.microsoft.com/office/drawing/2014/main" id="{7A58EBE2-E72E-011E-5481-0A5E30052495}"/>
              </a:ext>
            </a:extLst>
          </p:cNvPr>
          <p:cNvSpPr txBox="1"/>
          <p:nvPr/>
        </p:nvSpPr>
        <p:spPr>
          <a:xfrm>
            <a:off x="1074683" y="1325563"/>
            <a:ext cx="10042634" cy="5884753"/>
          </a:xfrm>
          <a:prstGeom prst="rect">
            <a:avLst/>
          </a:prstGeom>
          <a:noFill/>
        </p:spPr>
        <p:txBody>
          <a:bodyPr wrap="square">
            <a:spAutoFit/>
          </a:bodyPr>
          <a:lstStyle/>
          <a:p>
            <a:pPr marL="342900" indent="-342900" algn="just">
              <a:lnSpc>
                <a:spcPct val="2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system starts by capturing the user’s face through a camera. The facial image is processed in Python to detect the current emotion.</a:t>
            </a:r>
          </a:p>
          <a:p>
            <a:pPr marL="342900" indent="-342900" algn="just">
              <a:lnSpc>
                <a:spcPct val="2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Based on the detected result, a signal is sent to the Arduino Uno. The Arduino then controls the fan speed and LED indication accordingly. </a:t>
            </a:r>
          </a:p>
          <a:p>
            <a:pPr marL="342900" indent="-342900" algn="just">
              <a:lnSpc>
                <a:spcPct val="2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If anger is detected, the red LED turns ON and the fan runs at high speed. </a:t>
            </a:r>
          </a:p>
          <a:p>
            <a:pPr marL="342900" indent="-342900" algn="just">
              <a:lnSpc>
                <a:spcPct val="2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If sad is detected, the yellow LED turns ON and the fan runs at medium speed. </a:t>
            </a:r>
          </a:p>
          <a:p>
            <a:pPr marL="342900" indent="-342900" algn="just">
              <a:lnSpc>
                <a:spcPct val="2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If happy is detected, the green LED turns ON and the fan remains OFF. The LCD display shows the detected emotion and system status in real time.</a:t>
            </a:r>
          </a:p>
          <a:p>
            <a:pPr algn="just">
              <a:lnSpc>
                <a:spcPct val="150000"/>
              </a:lnSpc>
            </a:pP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8900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23E8F-4700-C608-79E8-4F9E798C7F3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FFF6A72-5209-7BD3-99B8-41A2E07AAC29}"/>
              </a:ext>
            </a:extLst>
          </p:cNvPr>
          <p:cNvSpPr>
            <a:spLocks noGrp="1"/>
          </p:cNvSpPr>
          <p:nvPr>
            <p:ph type="title"/>
          </p:nvPr>
        </p:nvSpPr>
        <p:spPr>
          <a:xfrm>
            <a:off x="444062" y="223236"/>
            <a:ext cx="10515600" cy="848820"/>
          </a:xfrm>
        </p:spPr>
        <p:txBody>
          <a:bodyPr/>
          <a:lstStyle/>
          <a:p>
            <a:r>
              <a:rPr lang="en-US" dirty="0"/>
              <a:t>Implementation Flow chart</a:t>
            </a:r>
            <a:endParaRPr lang="en-IN" dirty="0"/>
          </a:p>
        </p:txBody>
      </p:sp>
      <p:pic>
        <p:nvPicPr>
          <p:cNvPr id="4" name="Picture 3" descr="A diagram of a computer program&#10;&#10;Description automatically generated">
            <a:extLst>
              <a:ext uri="{FF2B5EF4-FFF2-40B4-BE49-F238E27FC236}">
                <a16:creationId xmlns:a16="http://schemas.microsoft.com/office/drawing/2014/main" id="{514CB867-2CF2-FFF7-E3BD-9D32DF5603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1925" y="1072056"/>
            <a:ext cx="7928150" cy="5660340"/>
          </a:xfrm>
          <a:prstGeom prst="rect">
            <a:avLst/>
          </a:prstGeom>
        </p:spPr>
      </p:pic>
    </p:spTree>
    <p:extLst>
      <p:ext uri="{BB962C8B-B14F-4D97-AF65-F5344CB8AC3E}">
        <p14:creationId xmlns:p14="http://schemas.microsoft.com/office/powerpoint/2010/main" val="1508216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6942A-5CD1-1E49-2FF8-4CBC72A5BC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DD3A21-82B3-AD4C-35C6-B5F0EBB533CB}"/>
              </a:ext>
            </a:extLst>
          </p:cNvPr>
          <p:cNvSpPr>
            <a:spLocks noGrp="1"/>
          </p:cNvSpPr>
          <p:nvPr>
            <p:ph type="title"/>
          </p:nvPr>
        </p:nvSpPr>
        <p:spPr>
          <a:xfrm>
            <a:off x="838200" y="0"/>
            <a:ext cx="10515600" cy="1325563"/>
          </a:xfrm>
        </p:spPr>
        <p:txBody>
          <a:bodyPr/>
          <a:lstStyle/>
          <a:p>
            <a:pPr algn="ctr"/>
            <a:r>
              <a:rPr lang="en-IN" dirty="0">
                <a:latin typeface="Times New Roman" panose="02020603050405020304" pitchFamily="18" charset="0"/>
                <a:cs typeface="Times New Roman" panose="02020603050405020304" pitchFamily="18" charset="0"/>
              </a:rPr>
              <a:t>Hardware Details</a:t>
            </a:r>
          </a:p>
        </p:txBody>
      </p:sp>
      <p:sp>
        <p:nvSpPr>
          <p:cNvPr id="5" name="Rectangle 2">
            <a:extLst>
              <a:ext uri="{FF2B5EF4-FFF2-40B4-BE49-F238E27FC236}">
                <a16:creationId xmlns:a16="http://schemas.microsoft.com/office/drawing/2014/main" id="{F17D3631-C7E4-84D4-ED8D-2ABFBE6DA449}"/>
              </a:ext>
            </a:extLst>
          </p:cNvPr>
          <p:cNvSpPr>
            <a:spLocks noChangeArrowheads="1"/>
          </p:cNvSpPr>
          <p:nvPr/>
        </p:nvSpPr>
        <p:spPr bwMode="auto">
          <a:xfrm>
            <a:off x="1639612" y="1511856"/>
            <a:ext cx="2943434" cy="5115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Laptop Camera </a:t>
            </a:r>
          </a:p>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Laptop Arduino Uno </a:t>
            </a:r>
          </a:p>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Motor Driver Module </a:t>
            </a:r>
          </a:p>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DC Fan </a:t>
            </a:r>
          </a:p>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LCD Display </a:t>
            </a:r>
          </a:p>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 LED </a:t>
            </a:r>
          </a:p>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Green LED </a:t>
            </a:r>
          </a:p>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Yellow LED </a:t>
            </a:r>
          </a:p>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Power Supply </a:t>
            </a:r>
          </a:p>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Connecting Wires </a:t>
            </a:r>
          </a:p>
          <a:p>
            <a:pPr marR="0" lvl="0" defTabSz="914400" rtl="0" eaLnBrk="0" fontAlgn="base" latinLnBrk="0" hangingPunct="0">
              <a:lnSpc>
                <a:spcPct val="15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5745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0CF48-EE82-4A8F-AEEC-338557C0C813}"/>
              </a:ext>
            </a:extLst>
          </p:cNvPr>
          <p:cNvSpPr>
            <a:spLocks noGrp="1"/>
          </p:cNvSpPr>
          <p:nvPr>
            <p:ph type="title"/>
          </p:nvPr>
        </p:nvSpPr>
        <p:spPr>
          <a:xfrm>
            <a:off x="838200" y="0"/>
            <a:ext cx="10515600" cy="1325563"/>
          </a:xfrm>
        </p:spPr>
        <p:txBody>
          <a:bodyPr/>
          <a:lstStyle/>
          <a:p>
            <a:pPr algn="ctr"/>
            <a:r>
              <a:rPr lang="en-IN" dirty="0">
                <a:latin typeface="Times New Roman" panose="02020603050405020304" pitchFamily="18" charset="0"/>
                <a:cs typeface="Times New Roman" panose="02020603050405020304" pitchFamily="18" charset="0"/>
              </a:rPr>
              <a:t>Software Details</a:t>
            </a:r>
          </a:p>
        </p:txBody>
      </p:sp>
      <p:sp>
        <p:nvSpPr>
          <p:cNvPr id="3" name="Rectangle 1">
            <a:extLst>
              <a:ext uri="{FF2B5EF4-FFF2-40B4-BE49-F238E27FC236}">
                <a16:creationId xmlns:a16="http://schemas.microsoft.com/office/drawing/2014/main" id="{39EA7054-D023-7456-05FC-E9B6FF188895}"/>
              </a:ext>
            </a:extLst>
          </p:cNvPr>
          <p:cNvSpPr>
            <a:spLocks noChangeArrowheads="1"/>
          </p:cNvSpPr>
          <p:nvPr/>
        </p:nvSpPr>
        <p:spPr bwMode="auto">
          <a:xfrm>
            <a:off x="1133566" y="1503886"/>
            <a:ext cx="10052594" cy="2951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1.Operating System (Windows/Linux) is used commonly for development.</a:t>
            </a:r>
          </a:p>
          <a:p>
            <a:pPr marR="0" lvl="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2.Python (Anaconda) is used for facial emotion recognition and process camera input.</a:t>
            </a:r>
          </a:p>
          <a:p>
            <a:pPr marR="0" lvl="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3.OpenCV is used for capture image from webcam and perform face detection.</a:t>
            </a:r>
          </a:p>
          <a:p>
            <a:pPr marR="0" lvl="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4.NumPy is used for handles numerical operations.</a:t>
            </a:r>
          </a:p>
          <a:p>
            <a:pPr marR="0" lvl="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5.PySerial is used for sends detected emotion &amp;enables communication through USB</a:t>
            </a:r>
          </a:p>
          <a:p>
            <a:pPr marR="0" lvl="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6.Emotion Detection Model it is trained AI system that identifies human emotions from facial images .</a:t>
            </a:r>
          </a:p>
          <a:p>
            <a:pPr marR="0" lvl="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7.Arduino IDE is used to write and upload code to Arduino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Uno,control</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fan,LEDs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7281861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4637B-6352-D5FE-BF0D-729B52B1B555}"/>
              </a:ext>
            </a:extLst>
          </p:cNvPr>
          <p:cNvSpPr>
            <a:spLocks noGrp="1"/>
          </p:cNvSpPr>
          <p:nvPr>
            <p:ph type="title"/>
          </p:nvPr>
        </p:nvSpPr>
        <p:spPr>
          <a:xfrm>
            <a:off x="838200" y="365125"/>
            <a:ext cx="10515600" cy="766091"/>
          </a:xfrm>
        </p:spPr>
        <p:txBody>
          <a:bodyPr/>
          <a:lstStyle/>
          <a:p>
            <a:r>
              <a:rPr lang="en-GB" dirty="0"/>
              <a:t>                           Result &amp; Output</a:t>
            </a:r>
            <a:endParaRPr lang="en-IN" dirty="0"/>
          </a:p>
        </p:txBody>
      </p:sp>
      <p:pic>
        <p:nvPicPr>
          <p:cNvPr id="7" name="Content Placeholder 6" descr="A group of electronic devices with wires and lights&#10;&#10;Description automatically generated">
            <a:extLst>
              <a:ext uri="{FF2B5EF4-FFF2-40B4-BE49-F238E27FC236}">
                <a16:creationId xmlns:a16="http://schemas.microsoft.com/office/drawing/2014/main" id="{674C1C21-7BB5-E269-F0AA-3CF43FEFEA0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282020" y="1329179"/>
            <a:ext cx="6033939" cy="290345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A1AE5A06-498D-5A1D-CDCA-FD8AB4F6B968}"/>
              </a:ext>
            </a:extLst>
          </p:cNvPr>
          <p:cNvPicPr>
            <a:picLocks noChangeAspect="1"/>
          </p:cNvPicPr>
          <p:nvPr/>
        </p:nvPicPr>
        <p:blipFill>
          <a:blip r:embed="rId3"/>
          <a:stretch>
            <a:fillRect/>
          </a:stretch>
        </p:blipFill>
        <p:spPr>
          <a:xfrm>
            <a:off x="6618620" y="1329178"/>
            <a:ext cx="5409982" cy="2903456"/>
          </a:xfrm>
          <a:prstGeom prst="rect">
            <a:avLst/>
          </a:prstGeom>
        </p:spPr>
      </p:pic>
      <p:pic>
        <p:nvPicPr>
          <p:cNvPr id="11" name="Picture 10">
            <a:extLst>
              <a:ext uri="{FF2B5EF4-FFF2-40B4-BE49-F238E27FC236}">
                <a16:creationId xmlns:a16="http://schemas.microsoft.com/office/drawing/2014/main" id="{3214F2C5-15DC-D409-0097-CE3CD1E48E4E}"/>
              </a:ext>
            </a:extLst>
          </p:cNvPr>
          <p:cNvPicPr>
            <a:picLocks noChangeAspect="1"/>
          </p:cNvPicPr>
          <p:nvPr/>
        </p:nvPicPr>
        <p:blipFill>
          <a:blip r:embed="rId4"/>
          <a:stretch>
            <a:fillRect/>
          </a:stretch>
        </p:blipFill>
        <p:spPr>
          <a:xfrm>
            <a:off x="282020" y="4330838"/>
            <a:ext cx="6033940" cy="2527162"/>
          </a:xfrm>
          <a:prstGeom prst="rect">
            <a:avLst/>
          </a:prstGeom>
        </p:spPr>
      </p:pic>
      <p:pic>
        <p:nvPicPr>
          <p:cNvPr id="13" name="Picture 12">
            <a:extLst>
              <a:ext uri="{FF2B5EF4-FFF2-40B4-BE49-F238E27FC236}">
                <a16:creationId xmlns:a16="http://schemas.microsoft.com/office/drawing/2014/main" id="{0F94D30D-8654-AA2D-1BE7-A98E9562E1B6}"/>
              </a:ext>
            </a:extLst>
          </p:cNvPr>
          <p:cNvPicPr>
            <a:picLocks noChangeAspect="1"/>
          </p:cNvPicPr>
          <p:nvPr/>
        </p:nvPicPr>
        <p:blipFill>
          <a:blip r:embed="rId5"/>
          <a:stretch>
            <a:fillRect/>
          </a:stretch>
        </p:blipFill>
        <p:spPr>
          <a:xfrm>
            <a:off x="6618620" y="4330838"/>
            <a:ext cx="5494823" cy="2431701"/>
          </a:xfrm>
          <a:prstGeom prst="rect">
            <a:avLst/>
          </a:prstGeom>
        </p:spPr>
      </p:pic>
    </p:spTree>
    <p:extLst>
      <p:ext uri="{BB962C8B-B14F-4D97-AF65-F5344CB8AC3E}">
        <p14:creationId xmlns:p14="http://schemas.microsoft.com/office/powerpoint/2010/main" val="33915429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0B73BF-D922-4583-3EA2-B487FFDA1B99}"/>
              </a:ext>
            </a:extLst>
          </p:cNvPr>
          <p:cNvSpPr>
            <a:spLocks noGrp="1"/>
          </p:cNvSpPr>
          <p:nvPr>
            <p:ph type="sldNum" sz="quarter" idx="12"/>
          </p:nvPr>
        </p:nvSpPr>
        <p:spPr/>
        <p:txBody>
          <a:bodyPr/>
          <a:lstStyle/>
          <a:p>
            <a:fld id="{B6F15528-21DE-4FAA-801E-634DDDAF4B2B}" type="slidenum">
              <a:rPr lang="en-US" smtClean="0"/>
              <a:pPr/>
              <a:t>14</a:t>
            </a:fld>
            <a:endParaRPr lang="en-US" dirty="0"/>
          </a:p>
        </p:txBody>
      </p:sp>
      <p:sp>
        <p:nvSpPr>
          <p:cNvPr id="3" name="Title 1">
            <a:extLst>
              <a:ext uri="{FF2B5EF4-FFF2-40B4-BE49-F238E27FC236}">
                <a16:creationId xmlns:a16="http://schemas.microsoft.com/office/drawing/2014/main" id="{E42C1210-7AE9-4D08-87FE-FB9B753BDA07}"/>
              </a:ext>
            </a:extLst>
          </p:cNvPr>
          <p:cNvSpPr txBox="1">
            <a:spLocks/>
          </p:cNvSpPr>
          <p:nvPr/>
        </p:nvSpPr>
        <p:spPr>
          <a:xfrm>
            <a:off x="609600" y="274638"/>
            <a:ext cx="109728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latin typeface="Times New Roman" pitchFamily="18" charset="0"/>
                <a:cs typeface="Times New Roman" pitchFamily="18" charset="0"/>
              </a:rPr>
              <a:t>Advantages </a:t>
            </a:r>
          </a:p>
        </p:txBody>
      </p:sp>
      <p:sp>
        <p:nvSpPr>
          <p:cNvPr id="4" name="Rectangle 1">
            <a:extLst>
              <a:ext uri="{FF2B5EF4-FFF2-40B4-BE49-F238E27FC236}">
                <a16:creationId xmlns:a16="http://schemas.microsoft.com/office/drawing/2014/main" id="{99226B5C-5EB8-7618-FD38-874249948D8F}"/>
              </a:ext>
            </a:extLst>
          </p:cNvPr>
          <p:cNvSpPr>
            <a:spLocks noChangeArrowheads="1"/>
          </p:cNvSpPr>
          <p:nvPr/>
        </p:nvSpPr>
        <p:spPr bwMode="auto">
          <a:xfrm>
            <a:off x="1024759" y="1417638"/>
            <a:ext cx="4673074" cy="4007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 fan speed control </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Reduces manual effort </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Improves user comfort </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 and interactive system </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emotion detection </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Easy to implement </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Low-cost automation setup </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Useful for intelligent home applications </a:t>
            </a:r>
          </a:p>
        </p:txBody>
      </p:sp>
    </p:spTree>
    <p:extLst>
      <p:ext uri="{BB962C8B-B14F-4D97-AF65-F5344CB8AC3E}">
        <p14:creationId xmlns:p14="http://schemas.microsoft.com/office/powerpoint/2010/main" val="619454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644F8-69BB-4812-94F9-B5CACF9516A7}"/>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Applications</a:t>
            </a:r>
            <a:endParaRPr lang="en-IN"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35BB293B-D5BF-2BDE-CE25-6A6546545555}"/>
              </a:ext>
            </a:extLst>
          </p:cNvPr>
          <p:cNvSpPr>
            <a:spLocks noChangeArrowheads="1"/>
          </p:cNvSpPr>
          <p:nvPr/>
        </p:nvSpPr>
        <p:spPr bwMode="auto">
          <a:xfrm>
            <a:off x="1308538" y="1965864"/>
            <a:ext cx="4968027" cy="3730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 homes </a:t>
            </a:r>
          </a:p>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Personal comfort systems </a:t>
            </a:r>
          </a:p>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Intelligent room automation </a:t>
            </a:r>
          </a:p>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Human-machine interaction systems </a:t>
            </a:r>
          </a:p>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Healthcare and patient care rooms </a:t>
            </a:r>
          </a:p>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Stress-aware environments </a:t>
            </a:r>
          </a:p>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 office cabins </a:t>
            </a:r>
          </a:p>
          <a:p>
            <a:pPr marL="457200" marR="0" lvl="0" indent="-4572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Emotion-based appliance control systems </a:t>
            </a:r>
          </a:p>
        </p:txBody>
      </p:sp>
    </p:spTree>
    <p:extLst>
      <p:ext uri="{BB962C8B-B14F-4D97-AF65-F5344CB8AC3E}">
        <p14:creationId xmlns:p14="http://schemas.microsoft.com/office/powerpoint/2010/main" val="1341010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57C10-7DBC-E157-5589-64973705EB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36C0EE-A39F-995A-8667-E8A126D27F96}"/>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Future scope</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7CBDE7B-6D8E-2F95-30B9-D658773B67BC}"/>
              </a:ext>
            </a:extLst>
          </p:cNvPr>
          <p:cNvSpPr txBox="1"/>
          <p:nvPr/>
        </p:nvSpPr>
        <p:spPr>
          <a:xfrm>
            <a:off x="838200" y="1690688"/>
            <a:ext cx="10515600" cy="2345322"/>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	In future, the system can be improved by detecting more emotions with higher accuracy. It can be connected to IoT platforms for remote monitoring and control. The project can also be extended to control multiple home appliances such as lights, air conditioners, and alarms based on user emotion. With advanced AI models and better sensors, the system can become more efficient, reliable, and suitable for real-world smart home applications.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40383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637A7-640C-CA45-D1E6-95542B0E08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6D5132-2EFA-B005-A4F3-3F6FE04661F2}"/>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DD0A94C-FF4A-DB39-6C2C-A98DF47FDD93}"/>
              </a:ext>
            </a:extLst>
          </p:cNvPr>
          <p:cNvSpPr txBox="1"/>
          <p:nvPr/>
        </p:nvSpPr>
        <p:spPr>
          <a:xfrm>
            <a:off x="838200" y="1690688"/>
            <a:ext cx="10515600" cy="2806987"/>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	The emotion-based fan speed control system provides a smart and automatic way to control fan operation using facial emotion recognition. By combining a camera, Python-based emotion detection, and Arduino control, the system adjusts fan speed based on the user’s emotional state. This improves comfort, reduces manual work, and makes the system more interactive and intelligent. The project shows how emotion recognition can be connected with home automation in a simple and effective way.</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54045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References</a:t>
            </a:r>
          </a:p>
        </p:txBody>
      </p:sp>
      <p:sp>
        <p:nvSpPr>
          <p:cNvPr id="4" name="TextBox 3">
            <a:extLst>
              <a:ext uri="{FF2B5EF4-FFF2-40B4-BE49-F238E27FC236}">
                <a16:creationId xmlns:a16="http://schemas.microsoft.com/office/drawing/2014/main" id="{D24400A7-3421-4910-C2E7-32F16AEE62B5}"/>
              </a:ext>
            </a:extLst>
          </p:cNvPr>
          <p:cNvSpPr txBox="1"/>
          <p:nvPr/>
        </p:nvSpPr>
        <p:spPr>
          <a:xfrm>
            <a:off x="838200" y="1318050"/>
            <a:ext cx="10669314" cy="4653646"/>
          </a:xfrm>
          <a:prstGeom prst="rect">
            <a:avLst/>
          </a:prstGeom>
          <a:noFill/>
        </p:spPr>
        <p:txBody>
          <a:bodyPr wrap="square">
            <a:spAutoFit/>
          </a:bodyPr>
          <a:lstStyle/>
          <a:p>
            <a:pPr marL="342900" indent="-3429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Hadjar, H., et al. “</a:t>
            </a:r>
            <a:r>
              <a:rPr lang="en-US" sz="2000" dirty="0" err="1">
                <a:latin typeface="Times New Roman" panose="02020603050405020304" pitchFamily="18" charset="0"/>
                <a:cs typeface="Times New Roman" panose="02020603050405020304" pitchFamily="18" charset="0"/>
              </a:rPr>
              <a:t>TheraSense</a:t>
            </a:r>
            <a:r>
              <a:rPr lang="en-US" sz="2000" dirty="0">
                <a:latin typeface="Times New Roman" panose="02020603050405020304" pitchFamily="18" charset="0"/>
                <a:cs typeface="Times New Roman" panose="02020603050405020304" pitchFamily="18" charset="0"/>
              </a:rPr>
              <a:t>: Deep Learning for Facial Emotion Analysis in Teleconsultation.” Electronics, vol. 14, no. 3, 2025, Article 422.</a:t>
            </a:r>
          </a:p>
          <a:p>
            <a:pPr marL="342900" indent="-3429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 Bai, M., et al. “Lightweight Emotion Analysis Solution Using Tiny Machine Learning.” Computers &amp; Electrical Engineering, 2025.</a:t>
            </a:r>
          </a:p>
          <a:p>
            <a:pPr marL="342900" indent="-3429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 Sone, Y., et al. “Development of a Control Support System for Smart Homes.” </a:t>
            </a:r>
            <a:r>
              <a:rPr lang="en-US" sz="2000" dirty="0" err="1">
                <a:latin typeface="Times New Roman" panose="02020603050405020304" pitchFamily="18" charset="0"/>
                <a:cs typeface="Times New Roman" panose="02020603050405020304" pitchFamily="18" charset="0"/>
              </a:rPr>
              <a:t>Robomech</a:t>
            </a:r>
            <a:r>
              <a:rPr lang="en-US" sz="2000" dirty="0">
                <a:latin typeface="Times New Roman" panose="02020603050405020304" pitchFamily="18" charset="0"/>
                <a:cs typeface="Times New Roman" panose="02020603050405020304" pitchFamily="18" charset="0"/>
              </a:rPr>
              <a:t> Journal, 2025. </a:t>
            </a:r>
          </a:p>
          <a:p>
            <a:pPr marL="342900" indent="-3429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Addow, M. A., et al. “A Low-Cost IoT-Based Smart Home Automation System for Urban Environments.” Discover Internet of Things, 2025.</a:t>
            </a:r>
          </a:p>
          <a:p>
            <a:pPr marL="342900" indent="-3429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 Aleran, A., et al. “Artificial Intelligence and the Internet of Things in Energy Preservation.” Computing, 2025. </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What To Write in a Professional Thank-You Card - Wall Street Greetings">
            <a:extLst>
              <a:ext uri="{FF2B5EF4-FFF2-40B4-BE49-F238E27FC236}">
                <a16:creationId xmlns:a16="http://schemas.microsoft.com/office/drawing/2014/main" id="{BC30F6F1-56E9-23F2-CC92-3156D8A92B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047974"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3976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902</TotalTime>
  <Words>1209</Words>
  <Application>Microsoft Office PowerPoint</Application>
  <PresentationFormat>Widescreen</PresentationFormat>
  <Paragraphs>121</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Calibri Light</vt:lpstr>
      <vt:lpstr>Times New Roman</vt:lpstr>
      <vt:lpstr>Wingdings</vt:lpstr>
      <vt:lpstr>Office Theme</vt:lpstr>
      <vt:lpstr>PowerPoint Presentation</vt:lpstr>
      <vt:lpstr>Introduction</vt:lpstr>
      <vt:lpstr>Problem Identification</vt:lpstr>
      <vt:lpstr>Objectives</vt:lpstr>
      <vt:lpstr>Literature Survey</vt:lpstr>
      <vt:lpstr>Existing System</vt:lpstr>
      <vt:lpstr>Proposed System</vt:lpstr>
      <vt:lpstr>Block Diagram</vt:lpstr>
      <vt:lpstr>Operation</vt:lpstr>
      <vt:lpstr>Implementation Flow chart</vt:lpstr>
      <vt:lpstr>Hardware Details</vt:lpstr>
      <vt:lpstr>Software Details</vt:lpstr>
      <vt:lpstr>                           Result &amp; Output</vt:lpstr>
      <vt:lpstr>PowerPoint Presentation</vt:lpstr>
      <vt:lpstr>Applications</vt:lpstr>
      <vt:lpstr>Future scope</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Review 1</dc:title>
  <dc:creator>Pavan kumar P</dc:creator>
  <cp:lastModifiedBy>hemanth bille</cp:lastModifiedBy>
  <cp:revision>60</cp:revision>
  <dcterms:created xsi:type="dcterms:W3CDTF">2021-04-19T15:05:42Z</dcterms:created>
  <dcterms:modified xsi:type="dcterms:W3CDTF">2026-04-10T04:06:21Z</dcterms:modified>
</cp:coreProperties>
</file>